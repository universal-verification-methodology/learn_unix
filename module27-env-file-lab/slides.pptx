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Toolchains need paths and flags—TOOLS, SIM, WAVE—without hard-coding secrets in scripts you commit. A dot-env file holds KEY equals value lines you source locally. This module covers load order, example versus real env files, and keeping secrets out of Git.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or dot loads the file into the current shell. Commit a safe example template; keep the real env file gitignored. Later layers win—local overrides, then shell exports. Never commit tokens or private paths; document the keys teammates must 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You will see a chip project with an example file, a real env file, and optional local overrides. Load env and watch which layer wins for each key. Orient yourself with the file tabs, the resolved table, and the challenge strip, then practice sourcing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env-file example. List the files and show the sample env so you see KEY equals value lines and comments. Make the helper script executable and run it—it sources the file and prints the variables. Then source the file in your shell and echo the values yourself. You will reuse this whenever a Make or sim flow expects TOOLS or similar settings.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commit a real env file with secrets. Do not put spaces around the equals sign in KEY equals value lines. And remember: the browser lab shows load order; lasting habit means sourcing a local file on a real shell before blaming the RTL.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clear a few challenges after the starter. On the real shell, source the sample env and confirm the variables print. When you are ready, take the short quiz, then continue to the course wrap.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Dot-env literacy</a:t>
            </a:r>
          </a:p>
          <a:p>
            <a:pPr algn="ctr">
              <a:lnSpc>
                <a:spcPts val="2200"/>
              </a:lnSpc>
              <a:spcBef>
                <a:spcPts val="1400"/>
              </a:spcBef>
            </a:pPr>
            <a:r>
              <a:rPr sz="2600" b="0">
                <a:solidFill>
                  <a:srgbClr val="333333"/>
                </a:solidFill>
                <a:latin typeface="Calibri"/>
              </a:rPr>
              <a:t>Toolchains need paths and flags, TOOLS, SIM, WAVE, without hard-coding secrets in scripts you commit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env file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Source, layers, and Git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Source or dot loads the file into the current shell</a:t>
            </a:r>
          </a:p>
          <a:p>
            <a:pPr lvl="0" marL="457200" indent="-228600">
              <a:buFont typeface="Calibri"/>
              <a:spcAft>
                <a:spcPts val="1000"/>
              </a:spcAft>
              <a:buSzPct val="100000"/>
              <a:buChar char="•"/>
              <a:lnSpc>
                <a:spcPts val="2200"/>
              </a:lnSpc>
            </a:pPr>
            <a:r>
              <a:rPr sz="2000" b="0">
                <a:solidFill>
                  <a:srgbClr val="333333"/>
                </a:solidFill>
                <a:latin typeface="Calibri"/>
              </a:rPr>
              <a:t>Commit a safe example template; keep the real env file gitignored</a:t>
            </a:r>
          </a:p>
          <a:p>
            <a:pPr lvl="0" marL="457200" indent="-228600">
              <a:buFont typeface="Calibri"/>
              <a:spcAft>
                <a:spcPts val="1000"/>
              </a:spcAft>
              <a:buSzPct val="100000"/>
              <a:buChar char="•"/>
              <a:lnSpc>
                <a:spcPts val="2200"/>
              </a:lnSpc>
            </a:pPr>
            <a:r>
              <a:rPr sz="2000" b="0">
                <a:solidFill>
                  <a:srgbClr val="333333"/>
                </a:solidFill>
                <a:latin typeface="Calibri"/>
              </a:rPr>
              <a:t>Later layers win, local overrides, then shell exports</a:t>
            </a:r>
          </a:p>
          <a:p>
            <a:pPr lvl="0" marL="457200" indent="-228600">
              <a:buFont typeface="Calibri"/>
              <a:spcAft>
                <a:spcPts val="1000"/>
              </a:spcAft>
              <a:buSzPct val="100000"/>
              <a:buChar char="•"/>
              <a:lnSpc>
                <a:spcPts val="2200"/>
              </a:lnSpc>
            </a:pPr>
            <a:r>
              <a:rPr sz="2000" b="0">
                <a:solidFill>
                  <a:srgbClr val="333333"/>
                </a:solidFill>
                <a:latin typeface="Calibri"/>
              </a:rPr>
              <a:t>Never commit tokens or private paths; document the keys teammates must set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env file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2188842"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Env file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env file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6048432"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source env</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env file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pwd — print working directory (where am I?)</a:t>
            </a:r>
          </a:p>
          <a:p>
            <a:pPr>
              <a:lnSpc>
                <a:spcPts val="2200"/>
              </a:lnSpc>
              <a:spcAft>
                <a:spcPts val="600"/>
              </a:spcAft>
            </a:pPr>
            <a:r>
              <a:rPr sz="2000" b="0">
                <a:solidFill>
                  <a:srgbClr val="333333"/>
                </a:solidFill>
                <a:latin typeface="Consolas"/>
              </a:rPr>
              <a:t>pwd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-la — list all entries, long format (what is here?)</a:t>
            </a:r>
          </a:p>
          <a:p>
            <a:pPr>
              <a:lnSpc>
                <a:spcPts val="2200"/>
              </a:lnSpc>
              <a:spcAft>
                <a:spcPts val="600"/>
              </a:spcAft>
            </a:pPr>
            <a:r>
              <a:rPr sz="2000" b="0">
                <a:solidFill>
                  <a:srgbClr val="333333"/>
                </a:solidFill>
                <a:latin typeface="Consolas"/>
              </a:rPr>
              <a:t>ls -la</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cat sample.env — show KEY=value lines (and comments)</a:t>
            </a:r>
          </a:p>
          <a:p>
            <a:pPr>
              <a:lnSpc>
                <a:spcPts val="2200"/>
              </a:lnSpc>
              <a:spcAft>
                <a:spcPts val="600"/>
              </a:spcAft>
            </a:pPr>
            <a:r>
              <a:rPr sz="2000" b="0">
                <a:solidFill>
                  <a:srgbClr val="333333"/>
                </a:solidFill>
                <a:latin typeface="Consolas"/>
              </a:rPr>
              <a:t>cat sample.env</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chmod u+x use_env.sh — make the helper script executable</a:t>
            </a:r>
          </a:p>
          <a:p>
            <a:pPr>
              <a:lnSpc>
                <a:spcPts val="2200"/>
              </a:lnSpc>
              <a:spcAft>
                <a:spcPts val="600"/>
              </a:spcAft>
            </a:pPr>
            <a:r>
              <a:rPr sz="2000" b="0">
                <a:solidFill>
                  <a:srgbClr val="333333"/>
                </a:solidFill>
                <a:latin typeface="Consolas"/>
              </a:rPr>
              <a:t>chmod u+x use_env.sh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./use_env.sh — source sample.env inside the script and print vars</a:t>
            </a:r>
          </a:p>
          <a:p>
            <a:pPr>
              <a:lnSpc>
                <a:spcPts val="2200"/>
              </a:lnSpc>
              <a:spcAft>
                <a:spcPts val="600"/>
              </a:spcAft>
            </a:pPr>
            <a:r>
              <a:rPr sz="2000" b="0">
                <a:solidFill>
                  <a:srgbClr val="333333"/>
                </a:solidFill>
                <a:latin typeface="Consolas"/>
              </a:rPr>
              <a:t>./use_env.sh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source sample.env — load vars into the current shell</a:t>
            </a:r>
          </a:p>
          <a:p>
            <a:pPr>
              <a:lnSpc>
                <a:spcPts val="2200"/>
              </a:lnSpc>
              <a:spcAft>
                <a:spcPts val="600"/>
              </a:spcAft>
            </a:pPr>
            <a:r>
              <a:rPr sz="2000" b="0">
                <a:solidFill>
                  <a:srgbClr val="333333"/>
                </a:solidFill>
                <a:latin typeface="Consolas"/>
              </a:rPr>
              <a:t>source sample.env</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MY_VAR=... — confirm MY_VAR is set after sourcing</a:t>
            </a:r>
          </a:p>
          <a:p>
            <a:pPr>
              <a:lnSpc>
                <a:spcPts val="2200"/>
              </a:lnSpc>
              <a:spcAft>
                <a:spcPts val="600"/>
              </a:spcAft>
            </a:pPr>
            <a:r>
              <a:rPr sz="2000" b="0">
                <a:solidFill>
                  <a:srgbClr val="333333"/>
                </a:solidFill>
                <a:latin typeface="Consolas"/>
              </a:rPr>
              <a:t>echo MY_VAR=$MY_VAR</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ANOTHER_VAR=... — confirm ANOTHER_VAR is set</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env file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commit a real env file with secrets</a:t>
            </a:r>
          </a:p>
          <a:p>
            <a:pPr lvl="0" marL="457200" indent="-228600">
              <a:buFont typeface="Calibri"/>
              <a:spcAft>
                <a:spcPts val="1000"/>
              </a:spcAft>
              <a:buSzPct val="100000"/>
              <a:buChar char="•"/>
              <a:lnSpc>
                <a:spcPts val="2200"/>
              </a:lnSpc>
            </a:pPr>
            <a:r>
              <a:rPr sz="2000" b="0">
                <a:solidFill>
                  <a:srgbClr val="333333"/>
                </a:solidFill>
                <a:latin typeface="Calibri"/>
              </a:rPr>
              <a:t>Do not put spaces around the equals sign in KEY equals value lines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env file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clear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source the sample env and confirm the variables print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course wrap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env file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
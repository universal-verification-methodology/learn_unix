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work with many Verilog files or log files, you do not want to type every name. Globs—also called wildcards—let the shell expand a pattern into a list of matching filenames before the command runs. This module makes star, question mark, and brackets feel natural.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 matches any sequence of characters, including none—so star-dot-txt means every file ending in that extension. Question mark matches exactly one character—handy for data underscore question-mark log. Brackets match one character from a set or a range, like a, b, or c in square brackets. The shell expands these patterns first; the command only sees the resulting names.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The pattern starts as star-dot-txt—watch which names light up. Try a question-mark pattern for the log files, then a star pattern, and notice that hidden names like gitignore are not matched by a bare star. Orient yourself with the pattern box and the file list, try a few challenges, then practice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Unix track, open this module’s wildcards example folder. List everything so you see the sample names. Then list only text files with a star pattern. Narrow to reports with a prefix and a star. Use a question mark for the numbered logs. Match the single-letter text files with a character class. You will use the same idea later for source files and build logs.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shell expands the pattern before the command runs—so remove-star-dot-log becomes a list of real filenames. If nothing matches, bash may leave the pattern literal. Always list a destructive pattern first. And remember: the browser lab shows the idea; real projects still need globs on a real shell for scripts and simulators.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the real shell, practice star, question mark, and brackets on this module’s sample files. When you are ready, take the short quiz, then continue to file types and links.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Globs &amp; wildcards</a:t>
            </a:r>
          </a:p>
          <a:p>
            <a:pPr algn="ctr">
              <a:lnSpc>
                <a:spcPts val="2200"/>
              </a:lnSpc>
              <a:spcBef>
                <a:spcPts val="1400"/>
              </a:spcBef>
            </a:pPr>
            <a:r>
              <a:rPr sz="2600" b="0">
                <a:solidFill>
                  <a:srgbClr val="333333"/>
                </a:solidFill>
                <a:latin typeface="Calibri"/>
              </a:rPr>
              <a:t>When you work with many Verilog files or log files, you do not want to type every name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wildcards globs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Star, question mark, brackets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 matches any sequence of characters</a:t>
            </a:r>
          </a:p>
          <a:p>
            <a:pPr lvl="0" marL="457200" indent="-228600">
              <a:buFont typeface="Calibri"/>
              <a:spcAft>
                <a:spcPts val="1000"/>
              </a:spcAft>
              <a:buSzPct val="100000"/>
              <a:buChar char="•"/>
              <a:lnSpc>
                <a:spcPts val="2200"/>
              </a:lnSpc>
            </a:pPr>
            <a:r>
              <a:rPr sz="2000" b="0">
                <a:solidFill>
                  <a:srgbClr val="333333"/>
                </a:solidFill>
                <a:latin typeface="Calibri"/>
              </a:rPr>
              <a:t>Question mark matches exactly one character, handy for data underscore question-mark log</a:t>
            </a:r>
          </a:p>
          <a:p>
            <a:pPr lvl="0" marL="457200" indent="-228600">
              <a:buFont typeface="Calibri"/>
              <a:spcAft>
                <a:spcPts val="1000"/>
              </a:spcAft>
              <a:buSzPct val="100000"/>
              <a:buChar char="•"/>
              <a:lnSpc>
                <a:spcPts val="2200"/>
              </a:lnSpc>
            </a:pPr>
            <a:r>
              <a:rPr sz="2000" b="0">
                <a:solidFill>
                  <a:srgbClr val="333333"/>
                </a:solidFill>
                <a:latin typeface="Calibri"/>
              </a:rPr>
              <a:t>Brackets match one character from a set or a range, like a, b, or c in square brackets</a:t>
            </a:r>
          </a:p>
          <a:p>
            <a:pPr lvl="0" marL="457200" indent="-228600">
              <a:buFont typeface="Calibri"/>
              <a:spcAft>
                <a:spcPts val="1000"/>
              </a:spcAft>
              <a:buSzPct val="100000"/>
              <a:buChar char="•"/>
              <a:lnSpc>
                <a:spcPts val="2200"/>
              </a:lnSpc>
            </a:pPr>
            <a:r>
              <a:rPr sz="2000" b="0">
                <a:solidFill>
                  <a:srgbClr val="333333"/>
                </a:solidFill>
                <a:latin typeface="Calibri"/>
              </a:rPr>
              <a:t>The shell expands these patterns first; the command only sees the resulting names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wildcards globs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Globs and wildcards lab</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wildcards globs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a:t>
            </a:r>
          </a:p>
        </p:txBody>
      </p:sp>
      <p:pic>
        <p:nvPicPr>
          <p:cNvPr id="3" name="Picture 2" descr="real-shell.png"/>
          <p:cNvPicPr>
            <a:picLocks noChangeAspect="1"/>
          </p:cNvPicPr>
          <p:nvPr/>
        </p:nvPicPr>
        <p:blipFill>
          <a:blip r:embed="rId2"/>
          <a:stretch>
            <a:fillRect/>
          </a:stretch>
        </p:blipFill>
        <p:spPr>
          <a:xfrm>
            <a:off x="548640" y="1143000"/>
            <a:ext cx="621250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globs and wildcards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wildcards globs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ls — see every name in this folder first</a:t>
            </a:r>
          </a:p>
          <a:p>
            <a:pPr>
              <a:lnSpc>
                <a:spcPts val="2200"/>
              </a:lnSpc>
              <a:spcAft>
                <a:spcPts val="600"/>
              </a:spcAft>
            </a:pPr>
            <a:r>
              <a:rPr sz="2000" b="0">
                <a:solidFill>
                  <a:srgbClr val="333333"/>
                </a:solidFill>
                <a:latin typeface="Consolas"/>
              </a:rPr>
              <a:t>ls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*.txt — star matches any sequence; list all .txt files</a:t>
            </a:r>
          </a:p>
          <a:p>
            <a:pPr>
              <a:lnSpc>
                <a:spcPts val="2200"/>
              </a:lnSpc>
              <a:spcAft>
                <a:spcPts val="600"/>
              </a:spcAft>
            </a:pPr>
            <a:r>
              <a:rPr sz="2000" b="0">
                <a:solidFill>
                  <a:srgbClr val="333333"/>
                </a:solidFill>
                <a:latin typeface="Consolas"/>
              </a:rPr>
              <a:t>ls *.txt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report_*.txt — star after a prefix; only report_… text files</a:t>
            </a:r>
          </a:p>
          <a:p>
            <a:pPr>
              <a:lnSpc>
                <a:spcPts val="2200"/>
              </a:lnSpc>
              <a:spcAft>
                <a:spcPts val="600"/>
              </a:spcAft>
            </a:pPr>
            <a:r>
              <a:rPr sz="2000" b="0">
                <a:solidFill>
                  <a:srgbClr val="333333"/>
                </a:solidFill>
                <a:latin typeface="Consolas"/>
              </a:rPr>
              <a:t>ls report_*.txt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data_?.log — question mark matches exactly one character</a:t>
            </a:r>
          </a:p>
          <a:p>
            <a:pPr>
              <a:lnSpc>
                <a:spcPts val="2200"/>
              </a:lnSpc>
              <a:spcAft>
                <a:spcPts val="600"/>
              </a:spcAft>
            </a:pPr>
            <a:r>
              <a:rPr sz="2000" b="0">
                <a:solidFill>
                  <a:srgbClr val="333333"/>
                </a:solidFill>
                <a:latin typeface="Consolas"/>
              </a:rPr>
              <a:t>ls data_?.log</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[abc].txt — brackets: one character from the set a, b, or c</a:t>
            </a:r>
          </a:p>
          <a:p>
            <a:pPr>
              <a:lnSpc>
                <a:spcPts val="2200"/>
              </a:lnSpc>
              <a:spcAft>
                <a:spcPts val="600"/>
              </a:spcAft>
            </a:pPr>
            <a:r>
              <a:rPr sz="2000" b="0">
                <a:solidFill>
                  <a:srgbClr val="333333"/>
                </a:solidFill>
                <a:latin typeface="Consolas"/>
              </a:rPr>
              <a:t>ls [abc].txt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wildcards globs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shell expands the pattern before the command runs</a:t>
            </a:r>
          </a:p>
          <a:p>
            <a:pPr lvl="0" marL="457200" indent="-228600">
              <a:buFont typeface="Calibri"/>
              <a:spcAft>
                <a:spcPts val="1000"/>
              </a:spcAft>
              <a:buSzPct val="100000"/>
              <a:buChar char="•"/>
              <a:lnSpc>
                <a:spcPts val="2200"/>
              </a:lnSpc>
            </a:pPr>
            <a:r>
              <a:rPr sz="2000" b="0">
                <a:solidFill>
                  <a:srgbClr val="333333"/>
                </a:solidFill>
                <a:latin typeface="Calibri"/>
              </a:rPr>
              <a:t>If nothing matches, bash may leave the pattern literal</a:t>
            </a:r>
          </a:p>
          <a:p>
            <a:pPr lvl="0" marL="457200" indent="-228600">
              <a:buFont typeface="Calibri"/>
              <a:spcAft>
                <a:spcPts val="1000"/>
              </a:spcAft>
              <a:buSzPct val="100000"/>
              <a:buChar char="•"/>
              <a:lnSpc>
                <a:spcPts val="2200"/>
              </a:lnSpc>
            </a:pPr>
            <a:r>
              <a:rPr sz="2000" b="0">
                <a:solidFill>
                  <a:srgbClr val="333333"/>
                </a:solidFill>
                <a:latin typeface="Calibri"/>
              </a:rPr>
              <a:t>Always list a destructive pattern first</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wildcards globs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the real shell, practice star, question mark</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file types and links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wildcards globs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
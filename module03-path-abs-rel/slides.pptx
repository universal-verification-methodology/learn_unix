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Paths are how you tell the shell where to go. In design work you jump between source, testbench, and build folders constantly—and a relative path that worked a moment ago can break after you change directories. This module makes absolute and relative paths feel obvious.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absolute path starts from the filesystem root—usually with a leading slash—or from home with a tilde. A relative path is resolved against your current working directory: a plain folder name, a single dot for “here,” or two dots for “up one level.” After you change directory, every relative path is re-aimed at the new place.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Watch the current directory, resolve a relative path like going up and into another project folder, then try an absolute or home-based path. Change directory and resolve again—you will see when a relative path breaks. Orient yourself, try a few challenges,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paths example folder. Print the working directory so you see the absolute path of where you are. List what is here. Change up one level with two dots—that is a relative move—then print the directory again. Change back into paths with a relative name. Finally, jump home with a tilde and print once more: tilde expands to your home directory, which is absolute in effect. You will reuse this when scripts and simulators expect the right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relative path is not “wrong”—it is just tied to where you are now. After change-directory, the same short path may fail. Leading slash means from the root; tilde means home. And remember: the browser lab shows the idea; real projects and tools like Icarus and Verilator still need correct paths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practice relative moves with two dots and absolute jumps with slash or tilde. When you are ready, take the short quiz, then continue to globs and wildcards.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Absolute vs relative paths</a:t>
            </a:r>
          </a:p>
          <a:p>
            <a:pPr algn="ctr">
              <a:lnSpc>
                <a:spcPts val="2200"/>
              </a:lnSpc>
              <a:spcBef>
                <a:spcPts val="1400"/>
              </a:spcBef>
            </a:pPr>
            <a:r>
              <a:rPr sz="2600" b="0">
                <a:solidFill>
                  <a:srgbClr val="333333"/>
                </a:solidFill>
                <a:latin typeface="Calibri"/>
              </a:rPr>
              <a:t>Paths are how you tell the shell where to go</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path abs rel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Absolute vs relative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 absolute path starts from the filesystem root</a:t>
            </a:r>
          </a:p>
          <a:p>
            <a:pPr lvl="0" marL="457200" indent="-228600">
              <a:buFont typeface="Calibri"/>
              <a:spcAft>
                <a:spcPts val="1000"/>
              </a:spcAft>
              <a:buSzPct val="100000"/>
              <a:buChar char="•"/>
              <a:lnSpc>
                <a:spcPts val="2200"/>
              </a:lnSpc>
            </a:pPr>
            <a:r>
              <a:rPr sz="2000" b="0">
                <a:solidFill>
                  <a:srgbClr val="333333"/>
                </a:solidFill>
                <a:latin typeface="Calibri"/>
              </a:rPr>
              <a:t>A relative path is resolved against your current working directory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path abs rel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Absolute vs relative paths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path abs rel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764543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absolute and relative paths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path abs rel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pwd — print working directory (absolute path of “here”)</a:t>
            </a:r>
          </a:p>
          <a:p>
            <a:pPr>
              <a:lnSpc>
                <a:spcPts val="2200"/>
              </a:lnSpc>
              <a:spcAft>
                <a:spcPts val="600"/>
              </a:spcAft>
            </a:pPr>
            <a:r>
              <a:rPr sz="2000" b="0">
                <a:solidFill>
                  <a:srgbClr val="333333"/>
                </a:solidFill>
                <a:latin typeface="Consolas"/>
              </a:rPr>
              <a:t>pwd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-la — list this folder so you see what relative names refer to</a:t>
            </a:r>
          </a:p>
          <a:p>
            <a:pPr>
              <a:lnSpc>
                <a:spcPts val="2200"/>
              </a:lnSpc>
              <a:spcAft>
                <a:spcPts val="600"/>
              </a:spcAft>
            </a:pPr>
            <a:r>
              <a:rPr sz="2000" b="0">
                <a:solidFill>
                  <a:srgbClr val="333333"/>
                </a:solidFill>
                <a:latin typeface="Consolas"/>
              </a:rPr>
              <a:t>ls -la</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cd .. — relative: move up one directory</a:t>
            </a:r>
          </a:p>
          <a:p>
            <a:pPr>
              <a:lnSpc>
                <a:spcPts val="2200"/>
              </a:lnSpc>
              <a:spcAft>
                <a:spcPts val="600"/>
              </a:spcAft>
            </a:pPr>
            <a:r>
              <a:rPr sz="2000" b="0">
                <a:solidFill>
                  <a:srgbClr val="333333"/>
                </a:solidFill>
                <a:latin typeface="Consolas"/>
              </a:rPr>
              <a:t>cd ..</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pwd — confirm where you landed after the relative move</a:t>
            </a:r>
          </a:p>
          <a:p>
            <a:pPr>
              <a:lnSpc>
                <a:spcPts val="2200"/>
              </a:lnSpc>
              <a:spcAft>
                <a:spcPts val="600"/>
              </a:spcAft>
            </a:pPr>
            <a:r>
              <a:rPr sz="2000" b="0">
                <a:solidFill>
                  <a:srgbClr val="333333"/>
                </a:solidFill>
                <a:latin typeface="Consolas"/>
              </a:rPr>
              <a:t>pwd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cd paths — relative: enter this folder by name from here</a:t>
            </a:r>
          </a:p>
          <a:p>
            <a:pPr>
              <a:lnSpc>
                <a:spcPts val="2200"/>
              </a:lnSpc>
              <a:spcAft>
                <a:spcPts val="600"/>
              </a:spcAft>
            </a:pPr>
            <a:r>
              <a:rPr sz="2000" b="0">
                <a:solidFill>
                  <a:srgbClr val="333333"/>
                </a:solidFill>
                <a:latin typeface="Consolas"/>
              </a:rPr>
              <a:t>cd paths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cd ~ — go to your home directory (tilde expands to home)</a:t>
            </a:r>
          </a:p>
          <a:p>
            <a:pPr>
              <a:lnSpc>
                <a:spcPts val="2200"/>
              </a:lnSpc>
              <a:spcAft>
                <a:spcPts val="600"/>
              </a:spcAft>
            </a:pPr>
            <a:r>
              <a:rPr sz="2000" b="0">
                <a:solidFill>
                  <a:srgbClr val="333333"/>
                </a:solidFill>
                <a:latin typeface="Consolas"/>
              </a:rPr>
              <a:t>cd ~</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pwd — home’s absolute path</a:t>
            </a:r>
          </a:p>
          <a:p>
            <a:pPr>
              <a:lnSpc>
                <a:spcPts val="2200"/>
              </a:lnSpc>
              <a:spcAft>
                <a:spcPts val="600"/>
              </a:spcAft>
            </a:pPr>
            <a:r>
              <a:rPr sz="2000" b="0">
                <a:solidFill>
                  <a:srgbClr val="333333"/>
                </a:solidFill>
                <a:latin typeface="Consolas"/>
              </a:rPr>
              <a:t>pwd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path abs rel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relative path is not “wrong”, it is just tied to where you are now</a:t>
            </a:r>
          </a:p>
          <a:p>
            <a:pPr lvl="0" marL="457200" indent="-228600">
              <a:buFont typeface="Calibri"/>
              <a:spcAft>
                <a:spcPts val="1000"/>
              </a:spcAft>
              <a:buSzPct val="100000"/>
              <a:buChar char="•"/>
              <a:lnSpc>
                <a:spcPts val="2200"/>
              </a:lnSpc>
            </a:pPr>
            <a:r>
              <a:rPr sz="2000" b="0">
                <a:solidFill>
                  <a:srgbClr val="333333"/>
                </a:solidFill>
                <a:latin typeface="Calibri"/>
              </a:rPr>
              <a:t>After change-directory, the same short path may fail</a:t>
            </a:r>
          </a:p>
          <a:p>
            <a:pPr lvl="0" marL="457200" indent="-228600">
              <a:buFont typeface="Calibri"/>
              <a:spcAft>
                <a:spcPts val="1000"/>
              </a:spcAft>
              <a:buSzPct val="100000"/>
              <a:buChar char="•"/>
              <a:lnSpc>
                <a:spcPts val="2200"/>
              </a:lnSpc>
            </a:pPr>
            <a:r>
              <a:rPr sz="2000" b="0">
                <a:solidFill>
                  <a:srgbClr val="333333"/>
                </a:solidFill>
                <a:latin typeface="Calibri"/>
              </a:rPr>
              <a:t>Leading slash means from the root; tilde means home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path abs rel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globs and wildcards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path abs rel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
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every name in a directory is the same kind of thing. Some are ordinary files, some are folders, and some are symbolic links that point elsewhere. In design trees you meet all three—source files, directories, and shortcuts into toolchains or shared IP. This module teaches you to read the long listing and follow a link safely.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 long listing, the first character is the type. A dash means a regular file. The letter d means a directory. The letter l means a symbolic link—and the listing often shows an arrow to the target. Soft links are names that point at another path; if that path is missing, the link is broken, but you can still read the intended target with readlink.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load the starter example. Study the long listing: directories, files, and symlinks. Notice which link is broken. Use the mini terminal for list, make-link, and readlink when you are ready. Orient yourself, try a few challenges, then practice on a real shell.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Unix track, open this module’s file-types example folder. List in long format and read the first character of each line. Inspect the working symlink—list it, then print its target with readlink. Ask the file command what sample text and the symlink look like. Finally, readlink the broken link and list it: the target string is still there even though the file does not exist.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Removing a symlink with remove deletes the link name, not the target file—unless you remove the target itself. Do not confuse a broken link with “nothing there”: readlink still prints a path. And remember: the browser lab shows the idea; real projects still need you to read listings and links on a real shell.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finish a few challenges after the starter. On the real shell, practice long listing, readlink, and spotting a broken link. When you are ready, take the short quiz, then continue to realpath and resolving paths.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File types &amp; links</a:t>
            </a:r>
          </a:p>
          <a:p>
            <a:pPr algn="ctr">
              <a:lnSpc>
                <a:spcPts val="2200"/>
              </a:lnSpc>
              <a:spcBef>
                <a:spcPts val="1400"/>
              </a:spcBef>
            </a:pPr>
            <a:r>
              <a:rPr sz="2600" b="0">
                <a:solidFill>
                  <a:srgbClr val="333333"/>
                </a:solidFill>
                <a:latin typeface="Calibri"/>
              </a:rPr>
              <a:t>Not every name in a directory is the same kind of thing</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file types lab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Dash, dee, and ell</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a long listing, the first character is the type</a:t>
            </a:r>
          </a:p>
          <a:p>
            <a:pPr lvl="0" marL="457200" indent="-228600">
              <a:buFont typeface="Calibri"/>
              <a:spcAft>
                <a:spcPts val="1000"/>
              </a:spcAft>
              <a:buSzPct val="100000"/>
              <a:buChar char="•"/>
              <a:lnSpc>
                <a:spcPts val="2200"/>
              </a:lnSpc>
            </a:pPr>
            <a:r>
              <a:rPr sz="2000" b="0">
                <a:solidFill>
                  <a:srgbClr val="333333"/>
                </a:solidFill>
                <a:latin typeface="Calibri"/>
              </a:rPr>
              <a:t>A dash means a regular file</a:t>
            </a:r>
          </a:p>
          <a:p>
            <a:pPr lvl="0" marL="457200" indent="-228600">
              <a:buFont typeface="Calibri"/>
              <a:spcAft>
                <a:spcPts val="1000"/>
              </a:spcAft>
              <a:buSzPct val="100000"/>
              <a:buChar char="•"/>
              <a:lnSpc>
                <a:spcPts val="2200"/>
              </a:lnSpc>
            </a:pPr>
            <a:r>
              <a:rPr sz="2000" b="0">
                <a:solidFill>
                  <a:srgbClr val="333333"/>
                </a:solidFill>
                <a:latin typeface="Calibri"/>
              </a:rPr>
              <a:t>The letter d means a directory</a:t>
            </a:r>
          </a:p>
          <a:p>
            <a:pPr lvl="0" marL="457200" indent="-228600">
              <a:buFont typeface="Calibri"/>
              <a:spcAft>
                <a:spcPts val="1000"/>
              </a:spcAft>
              <a:buSzPct val="100000"/>
              <a:buChar char="•"/>
              <a:lnSpc>
                <a:spcPts val="2200"/>
              </a:lnSpc>
            </a:pPr>
            <a:r>
              <a:rPr sz="2000" b="0">
                <a:solidFill>
                  <a:srgbClr val="333333"/>
                </a:solidFill>
                <a:latin typeface="Calibri"/>
              </a:rPr>
              <a:t>The letter l means a symbolic link, and the listing often shows an arrow to the target</a:t>
            </a:r>
          </a:p>
          <a:p>
            <a:pPr lvl="0" marL="457200" indent="-228600">
              <a:buFont typeface="Calibri"/>
              <a:spcAft>
                <a:spcPts val="1000"/>
              </a:spcAft>
              <a:buSzPct val="100000"/>
              <a:buChar char="•"/>
              <a:lnSpc>
                <a:spcPts val="2200"/>
              </a:lnSpc>
            </a:pPr>
            <a:r>
              <a:rPr sz="2000" b="0">
                <a:solidFill>
                  <a:srgbClr val="333333"/>
                </a:solidFill>
                <a:latin typeface="Calibri"/>
              </a:rPr>
              <a:t>Soft links are names that point at another path</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file types lab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File types and links lab</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file types lab</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shell practice</a:t>
            </a:r>
          </a:p>
        </p:txBody>
      </p:sp>
      <p:pic>
        <p:nvPicPr>
          <p:cNvPr id="3" name="Picture 2" descr="real-shell.png"/>
          <p:cNvPicPr>
            <a:picLocks noChangeAspect="1"/>
          </p:cNvPicPr>
          <p:nvPr/>
        </p:nvPicPr>
        <p:blipFill>
          <a:blip r:embed="rId2"/>
          <a:stretch>
            <a:fillRect/>
          </a:stretch>
        </p:blipFill>
        <p:spPr>
          <a:xfrm>
            <a:off x="548640" y="1143000"/>
            <a:ext cx="7177128"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shell — file types and links</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file types lab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shell practice — try these</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600"/>
              </a:spcAft>
            </a:pPr>
            <a:r>
              <a:rPr sz="2000" b="0">
                <a:solidFill>
                  <a:srgbClr val="333333"/>
                </a:solidFill>
                <a:latin typeface="Consolas"/>
              </a:rPr>
              <a:t># ls -l — long listing; first character is the type (-, d, or l)</a:t>
            </a:r>
          </a:p>
          <a:p>
            <a:pPr>
              <a:lnSpc>
                <a:spcPts val="2200"/>
              </a:lnSpc>
              <a:spcAft>
                <a:spcPts val="600"/>
              </a:spcAft>
            </a:pPr>
            <a:r>
              <a:rPr sz="2000" b="0">
                <a:solidFill>
                  <a:srgbClr val="333333"/>
                </a:solidFill>
                <a:latin typeface="Consolas"/>
              </a:rPr>
              <a:t>ls -l</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ls -l my_symlink — inspect the working symlink line (arrow to target)</a:t>
            </a:r>
          </a:p>
          <a:p>
            <a:pPr>
              <a:lnSpc>
                <a:spcPts val="2200"/>
              </a:lnSpc>
              <a:spcAft>
                <a:spcPts val="600"/>
              </a:spcAft>
            </a:pPr>
            <a:r>
              <a:rPr sz="2000" b="0">
                <a:solidFill>
                  <a:srgbClr val="333333"/>
                </a:solidFill>
                <a:latin typeface="Consolas"/>
              </a:rPr>
              <a:t>ls -l my_symlink</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readlink my_symlink — print the path the symlink points to</a:t>
            </a:r>
          </a:p>
          <a:p>
            <a:pPr>
              <a:lnSpc>
                <a:spcPts val="2200"/>
              </a:lnSpc>
              <a:spcAft>
                <a:spcPts val="600"/>
              </a:spcAft>
            </a:pPr>
            <a:r>
              <a:rPr sz="2000" b="0">
                <a:solidFill>
                  <a:srgbClr val="333333"/>
                </a:solidFill>
                <a:latin typeface="Consolas"/>
              </a:rPr>
              <a:t>readlink my_symlink</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file sample.txt — classify the regular file</a:t>
            </a:r>
          </a:p>
          <a:p>
            <a:pPr>
              <a:lnSpc>
                <a:spcPts val="2200"/>
              </a:lnSpc>
              <a:spcAft>
                <a:spcPts val="600"/>
              </a:spcAft>
            </a:pPr>
            <a:r>
              <a:rPr sz="2000" b="0">
                <a:solidFill>
                  <a:srgbClr val="333333"/>
                </a:solidFill>
                <a:latin typeface="Consolas"/>
              </a:rPr>
              <a:t>file sample.txt</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file my_symlink — classify the symlink (follows or reports the link)</a:t>
            </a:r>
          </a:p>
          <a:p>
            <a:pPr>
              <a:lnSpc>
                <a:spcPts val="2200"/>
              </a:lnSpc>
              <a:spcAft>
                <a:spcPts val="600"/>
              </a:spcAft>
            </a:pPr>
            <a:r>
              <a:rPr sz="2000" b="0">
                <a:solidFill>
                  <a:srgbClr val="333333"/>
                </a:solidFill>
                <a:latin typeface="Consolas"/>
              </a:rPr>
              <a:t>file my_symlink</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readlink broken_link — target path even when the target is missing</a:t>
            </a:r>
          </a:p>
          <a:p>
            <a:pPr>
              <a:lnSpc>
                <a:spcPts val="2200"/>
              </a:lnSpc>
              <a:spcAft>
                <a:spcPts val="600"/>
              </a:spcAft>
            </a:pPr>
            <a:r>
              <a:rPr sz="2000" b="0">
                <a:solidFill>
                  <a:srgbClr val="333333"/>
                </a:solidFill>
                <a:latin typeface="Consolas"/>
              </a:rPr>
              <a:t>readlink broken_link</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ls -l broken_link — see the broken symlink in the long listing</a:t>
            </a:r>
          </a:p>
          <a:p>
            <a:pPr>
              <a:lnSpc>
                <a:spcPts val="2200"/>
              </a:lnSpc>
              <a:spcAft>
                <a:spcPts val="600"/>
              </a:spcAft>
            </a:pPr>
            <a:r>
              <a:rPr sz="2000" b="0">
                <a:solidFill>
                  <a:srgbClr val="333333"/>
                </a:solidFill>
                <a:latin typeface="Consolas"/>
              </a:rPr>
              <a:t>ls -l broken_link</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file types lab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Removing a symlink with remove deletes the link name</a:t>
            </a:r>
          </a:p>
          <a:p>
            <a:pPr lvl="0" marL="457200" indent="-228600">
              <a:buFont typeface="Calibri"/>
              <a:spcAft>
                <a:spcPts val="1000"/>
              </a:spcAft>
              <a:buSzPct val="100000"/>
              <a:buChar char="•"/>
              <a:lnSpc>
                <a:spcPts val="2200"/>
              </a:lnSpc>
            </a:pPr>
            <a:r>
              <a:rPr sz="2000" b="0">
                <a:solidFill>
                  <a:srgbClr val="333333"/>
                </a:solidFill>
                <a:latin typeface="Calibri"/>
              </a:rPr>
              <a:t>Do not confuse a broken link with “nothing there”: readlink still prints a path</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file types lab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finish a few challenges after the starter</a:t>
            </a:r>
          </a:p>
          <a:p>
            <a:pPr lvl="0" marL="457200" indent="-228600">
              <a:buFont typeface="Calibri"/>
              <a:spcAft>
                <a:spcPts val="1000"/>
              </a:spcAft>
              <a:buSzPct val="100000"/>
              <a:buChar char="•"/>
              <a:lnSpc>
                <a:spcPts val="2200"/>
              </a:lnSpc>
            </a:pPr>
            <a:r>
              <a:rPr sz="2000" b="0">
                <a:solidFill>
                  <a:srgbClr val="333333"/>
                </a:solidFill>
                <a:latin typeface="Calibri"/>
              </a:rPr>
              <a:t>On the real shell, practice long listing, readlink, and spotting a broken link</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realpath and resolving paths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file types lab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
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Shell power often means connecting small tools. A pipe sends one command’s output into the next. Redirection writes that stream to a file—or merges error output with it. xargs turns a list of words into repeated command arguments. This module builds the muscle you need for log hunting and build debugging.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vertical bar connects stdout of the left command to stdin of the right. Greater-than overwrites a file with stdout; two greater-thans append; two-greater-ampersand-one sends stderr along with stdout. xargs reads items from stdin and builds argument lists—handy when you have many filenames. Together they turn a noisy log into a short list of errors.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load the starter example. The pipeline box often starts with cat into grep into tee into word-count—run it and watch the stages. Try a redirect challenge and an xargs challenge when you are ready. Orient yourself with the pipeline and the lab files panel, try a few checks, then practice on a real shell.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Unix track, open this module’s pipes example. Peek at the sample log. Search for ERROR lines, then search case-insensitive for warnings. Count ERROR lines. Pipe the log through grep for INFO and take the first few matches. Finally pipe error matches into word-count so you see a pipeline that answers “how many?” You will reuse this on real sim logs; explore the redirection and xargs folders when you want more depth.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pipe only carries stdout by default—stderr still goes to the terminal unless you redirect. Overwrite with one greater-than destroys the previous file; prefer append when you mean to keep history. And remember: the browser lab shows the idea; real builds still need pipes and redirects on a real shell.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finish a few pipeline challenges after the starter. On the real shell, practice grep and pipes on the sample log, then try the redirection and xargs examples. When you are ready, take the short quiz, then continue to sort, uniq, and cut.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Pipes, redirection, xargs</a:t>
            </a:r>
          </a:p>
          <a:p>
            <a:pPr algn="ctr">
              <a:lnSpc>
                <a:spcPts val="2200"/>
              </a:lnSpc>
              <a:spcBef>
                <a:spcPts val="1400"/>
              </a:spcBef>
            </a:pPr>
            <a:r>
              <a:rPr sz="2600" b="0">
                <a:solidFill>
                  <a:srgbClr val="333333"/>
                </a:solidFill>
                <a:latin typeface="Calibri"/>
              </a:rPr>
              <a:t>Shell power often means connecting small tools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pipes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Pipe, redirect, and feed arguments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The vertical bar connects stdout of the left command to stdin of the right</a:t>
            </a:r>
          </a:p>
          <a:p>
            <a:pPr lvl="0" marL="457200" indent="-228600">
              <a:buFont typeface="Calibri"/>
              <a:spcAft>
                <a:spcPts val="1000"/>
              </a:spcAft>
              <a:buSzPct val="100000"/>
              <a:buChar char="•"/>
              <a:lnSpc>
                <a:spcPts val="2200"/>
              </a:lnSpc>
            </a:pPr>
            <a:r>
              <a:rPr sz="2000" b="0">
                <a:solidFill>
                  <a:srgbClr val="333333"/>
                </a:solidFill>
                <a:latin typeface="Calibri"/>
              </a:rPr>
              <a:t>Greater-than overwrites a file with stdout</a:t>
            </a:r>
          </a:p>
          <a:p>
            <a:pPr lvl="0" marL="457200" indent="-228600">
              <a:buFont typeface="Calibri"/>
              <a:spcAft>
                <a:spcPts val="1000"/>
              </a:spcAft>
              <a:buSzPct val="100000"/>
              <a:buChar char="•"/>
              <a:lnSpc>
                <a:spcPts val="2200"/>
              </a:lnSpc>
            </a:pPr>
            <a:r>
              <a:rPr sz="2000" b="0">
                <a:solidFill>
                  <a:srgbClr val="333333"/>
                </a:solidFill>
                <a:latin typeface="Calibri"/>
              </a:rPr>
              <a:t>Xargs reads items from stdin and builds argument lists, handy when you have many filenames</a:t>
            </a:r>
          </a:p>
          <a:p>
            <a:pPr lvl="0" marL="457200" indent="-228600">
              <a:buFont typeface="Calibri"/>
              <a:spcAft>
                <a:spcPts val="1000"/>
              </a:spcAft>
              <a:buSzPct val="100000"/>
              <a:buChar char="•"/>
              <a:lnSpc>
                <a:spcPts val="2200"/>
              </a:lnSpc>
            </a:pPr>
            <a:r>
              <a:rPr sz="2000" b="0">
                <a:solidFill>
                  <a:srgbClr val="333333"/>
                </a:solidFill>
                <a:latin typeface="Calibri"/>
              </a:rPr>
              <a:t>Together they turn a noisy log into a short list of errors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pipes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Pipes lab</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pipes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shell practice</a:t>
            </a:r>
          </a:p>
        </p:txBody>
      </p:sp>
      <p:pic>
        <p:nvPicPr>
          <p:cNvPr id="3" name="Picture 2" descr="real-shell.png"/>
          <p:cNvPicPr>
            <a:picLocks noChangeAspect="1"/>
          </p:cNvPicPr>
          <p:nvPr/>
        </p:nvPicPr>
        <p:blipFill>
          <a:blip r:embed="rId2"/>
          <a:stretch>
            <a:fillRect/>
          </a:stretch>
        </p:blipFill>
        <p:spPr>
          <a:xfrm>
            <a:off x="548640" y="1143000"/>
            <a:ext cx="6385733" cy="4571999"/>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pipes and grep</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pipes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shell practice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600"/>
              </a:spcAft>
            </a:pPr>
            <a:r>
              <a:rPr sz="2000" b="0">
                <a:solidFill>
                  <a:srgbClr val="333333"/>
                </a:solidFill>
                <a:latin typeface="Consolas"/>
              </a:rPr>
              <a:t># head -5 sample.log — peek at the start of the log</a:t>
            </a:r>
          </a:p>
          <a:p>
            <a:pPr>
              <a:lnSpc>
                <a:spcPts val="2200"/>
              </a:lnSpc>
              <a:spcAft>
                <a:spcPts val="600"/>
              </a:spcAft>
            </a:pPr>
            <a:r>
              <a:rPr sz="2000" b="0">
                <a:solidFill>
                  <a:srgbClr val="333333"/>
                </a:solidFill>
                <a:latin typeface="Consolas"/>
              </a:rPr>
              <a:t>head -5 sample.log</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grep ERROR sample.log — lines containing ERROR</a:t>
            </a:r>
          </a:p>
          <a:p>
            <a:pPr>
              <a:lnSpc>
                <a:spcPts val="2200"/>
              </a:lnSpc>
              <a:spcAft>
                <a:spcPts val="600"/>
              </a:spcAft>
            </a:pPr>
            <a:r>
              <a:rPr sz="2000" b="0">
                <a:solidFill>
                  <a:srgbClr val="333333"/>
                </a:solidFill>
                <a:latin typeface="Consolas"/>
              </a:rPr>
              <a:t>grep ERROR sample.log</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grep -i warning sample.log — case-insensitive warning lines</a:t>
            </a:r>
          </a:p>
          <a:p>
            <a:pPr>
              <a:lnSpc>
                <a:spcPts val="2200"/>
              </a:lnSpc>
              <a:spcAft>
                <a:spcPts val="600"/>
              </a:spcAft>
            </a:pPr>
            <a:r>
              <a:rPr sz="2000" b="0">
                <a:solidFill>
                  <a:srgbClr val="333333"/>
                </a:solidFill>
                <a:latin typeface="Consolas"/>
              </a:rPr>
              <a:t>grep -i warning sample.log</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grep -c ERROR sample.log — count matching lines</a:t>
            </a:r>
          </a:p>
          <a:p>
            <a:pPr>
              <a:lnSpc>
                <a:spcPts val="2200"/>
              </a:lnSpc>
              <a:spcAft>
                <a:spcPts val="600"/>
              </a:spcAft>
            </a:pPr>
            <a:r>
              <a:rPr sz="2000" b="0">
                <a:solidFill>
                  <a:srgbClr val="333333"/>
                </a:solidFill>
                <a:latin typeface="Consolas"/>
              </a:rPr>
              <a:t>grep -c ERROR sample.log</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cat sample.log | grep INFO | head -5 — pipe: filter then take first</a:t>
            </a:r>
          </a:p>
          <a:p>
            <a:pPr>
              <a:lnSpc>
                <a:spcPts val="2200"/>
              </a:lnSpc>
              <a:spcAft>
                <a:spcPts val="600"/>
              </a:spcAft>
            </a:pPr>
            <a:r>
              <a:rPr sz="2000" b="0">
                <a:solidFill>
                  <a:srgbClr val="333333"/>
                </a:solidFill>
                <a:latin typeface="Consolas"/>
              </a:rPr>
              <a:t>five</a:t>
            </a:r>
          </a:p>
          <a:p>
            <a:pPr>
              <a:lnSpc>
                <a:spcPts val="2200"/>
              </a:lnSpc>
              <a:spcAft>
                <a:spcPts val="600"/>
              </a:spcAft>
            </a:pPr>
            <a:r>
              <a:rPr sz="2000" b="0">
                <a:solidFill>
                  <a:srgbClr val="333333"/>
                </a:solidFill>
                <a:latin typeface="Consolas"/>
              </a:rPr>
              <a:t>cat sample.log | grep INFO | head -5</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grep -i error sample.log | wc -l — pipe: count error-like lines</a:t>
            </a:r>
          </a:p>
          <a:p>
            <a:pPr>
              <a:lnSpc>
                <a:spcPts val="2200"/>
              </a:lnSpc>
              <a:spcAft>
                <a:spcPts val="600"/>
              </a:spcAft>
            </a:pPr>
            <a:r>
              <a:rPr sz="2000" b="0">
                <a:solidFill>
                  <a:srgbClr val="333333"/>
                </a:solidFill>
                <a:latin typeface="Consolas"/>
              </a:rPr>
              <a:t>grep -i error sample.log | wc -l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pipes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 pipe only carries stdout by default</a:t>
            </a:r>
          </a:p>
          <a:p>
            <a:pPr lvl="0" marL="457200" indent="-228600">
              <a:buFont typeface="Calibri"/>
              <a:spcAft>
                <a:spcPts val="1000"/>
              </a:spcAft>
              <a:buSzPct val="100000"/>
              <a:buChar char="•"/>
              <a:lnSpc>
                <a:spcPts val="2200"/>
              </a:lnSpc>
            </a:pPr>
            <a:r>
              <a:rPr sz="2000" b="0">
                <a:solidFill>
                  <a:srgbClr val="333333"/>
                </a:solidFill>
                <a:latin typeface="Calibri"/>
              </a:rPr>
              <a:t>Overwrite with one greater-than destroys the previous file</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pipes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finish a few pipeline challenges after the starter</a:t>
            </a:r>
          </a:p>
          <a:p>
            <a:pPr lvl="0" marL="457200" indent="-228600">
              <a:buFont typeface="Calibri"/>
              <a:spcAft>
                <a:spcPts val="1000"/>
              </a:spcAft>
              <a:buSzPct val="100000"/>
              <a:buChar char="•"/>
              <a:lnSpc>
                <a:spcPts val="2200"/>
              </a:lnSpc>
            </a:pPr>
            <a:r>
              <a:rPr sz="2000" b="0">
                <a:solidFill>
                  <a:srgbClr val="333333"/>
                </a:solidFill>
                <a:latin typeface="Calibri"/>
              </a:rPr>
              <a:t>On the real shell</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sort, uniq, and cut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pipes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
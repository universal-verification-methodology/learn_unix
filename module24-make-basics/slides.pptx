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reads a Makefile and runs named targets—build, run, clean, help—so you do not retype long compile and sim commands. This module covers the basics you will use in every RTL and verification project: default targets, dependencies, and phony names that are not real files.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rule is a target, optional dependencies, then a tab-indented recipe. Make rebuilds when the target is missing or older than a dependency. Names like clean are usually marked .PHONY so Make always runs them even if a file with that name exists. Default make often means all or the first target—here,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will see a tiny chip Makefile, variables like SIM and TB, a file tree, and make buttons. Run make sim, touch RTL, run again, and watch what rebuilds. Orient yourself with the challenge strip and the Makefile panel, then practice the same ideas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the sample project under this module’s examples. Print where you are, then list the tree so you see the Makefile beside src and tb. Ask Make for help, run the default build, run the demo target that writes a log, list build and logs, then clean and list again. You will reuse these targets in every course project that ships a Makefile.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make from the project root so paths in the Makefile resolve. Recipes must use a real tab, not spaces. Do not create a file named clean if clean is a phony target—or mark it .PHONY. And remember: the browser lab teaches the ideas; lasting skill means running make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clear a few challenges after the starter. On the real shell, run help, build, run, and clean in the sample project. When you are ready, take the short quiz, then continue to the dry-run mindset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Makefile basics</a:t>
            </a:r>
          </a:p>
          <a:p>
            <a:pPr algn="ctr">
              <a:lnSpc>
                <a:spcPts val="2200"/>
              </a:lnSpc>
              <a:spcBef>
                <a:spcPts val="1400"/>
              </a:spcBef>
            </a:pPr>
            <a:r>
              <a:rPr sz="2600" b="0">
                <a:solidFill>
                  <a:srgbClr val="333333"/>
                </a:solidFill>
                <a:latin typeface="Calibri"/>
              </a:rPr>
              <a:t>Make reads a Makefile and runs named targets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Targets, deps, and .PHONY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rule is a target, optional dependencies, then a tab-indented recipe</a:t>
            </a:r>
          </a:p>
          <a:p>
            <a:pPr lvl="0" marL="457200" indent="-228600">
              <a:buFont typeface="Calibri"/>
              <a:spcAft>
                <a:spcPts val="1000"/>
              </a:spcAft>
              <a:buSzPct val="100000"/>
              <a:buChar char="•"/>
              <a:lnSpc>
                <a:spcPts val="2200"/>
              </a:lnSpc>
            </a:pPr>
            <a:r>
              <a:rPr sz="2000" b="0">
                <a:solidFill>
                  <a:srgbClr val="333333"/>
                </a:solidFill>
                <a:latin typeface="Calibri"/>
              </a:rPr>
              <a:t>Make rebuilds when the target is missing or older than a dependency</a:t>
            </a:r>
          </a:p>
          <a:p>
            <a:pPr lvl="0" marL="457200" indent="-228600">
              <a:buFont typeface="Calibri"/>
              <a:spcAft>
                <a:spcPts val="1000"/>
              </a:spcAft>
              <a:buSzPct val="100000"/>
              <a:buChar char="•"/>
              <a:lnSpc>
                <a:spcPts val="2200"/>
              </a:lnSpc>
            </a:pPr>
            <a:r>
              <a:rPr sz="2000" b="0">
                <a:solidFill>
                  <a:srgbClr val="333333"/>
                </a:solidFill>
                <a:latin typeface="Calibri"/>
              </a:rPr>
              <a:t>Names like clean are usually marked .PHONY so Make always runs them even if a file with</a:t>
            </a:r>
          </a:p>
          <a:p>
            <a:pPr lvl="0" marL="457200" indent="-228600">
              <a:buFont typeface="Calibri"/>
              <a:spcAft>
                <a:spcPts val="1000"/>
              </a:spcAft>
              <a:buSzPct val="100000"/>
              <a:buChar char="•"/>
              <a:lnSpc>
                <a:spcPts val="2200"/>
              </a:lnSpc>
            </a:pPr>
            <a:r>
              <a:rPr sz="2000" b="0">
                <a:solidFill>
                  <a:srgbClr val="333333"/>
                </a:solidFill>
                <a:latin typeface="Calibri"/>
              </a:rPr>
              <a:t>Default make often means all or the first target, here, build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340940"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Makefile basics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4043614"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make targets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print working directory (where am I?)</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list all entries, long format (what is here?)</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help — list available targets</a:t>
            </a:r>
          </a:p>
          <a:p>
            <a:pPr>
              <a:lnSpc>
                <a:spcPts val="2200"/>
              </a:lnSpc>
              <a:spcAft>
                <a:spcPts val="600"/>
              </a:spcAft>
            </a:pPr>
            <a:r>
              <a:rPr sz="2000" b="0">
                <a:solidFill>
                  <a:srgbClr val="333333"/>
                </a:solidFill>
                <a:latin typeface="Consolas"/>
              </a:rPr>
              <a:t>make help</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 default target (all → build); creates build/ and logs/</a:t>
            </a:r>
          </a:p>
          <a:p>
            <a:pPr>
              <a:lnSpc>
                <a:spcPts val="2200"/>
              </a:lnSpc>
              <a:spcAft>
                <a:spcPts val="600"/>
              </a:spcAft>
            </a:pPr>
            <a:r>
              <a:rPr sz="2000" b="0">
                <a:solidFill>
                  <a:srgbClr val="333333"/>
                </a:solidFill>
                <a:latin typeface="Consolas"/>
              </a:rPr>
              <a:t>make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run — depends on build; appends a line to logs/run.log</a:t>
            </a:r>
          </a:p>
          <a:p>
            <a:pPr>
              <a:lnSpc>
                <a:spcPts val="2200"/>
              </a:lnSpc>
              <a:spcAft>
                <a:spcPts val="600"/>
              </a:spcAft>
            </a:pPr>
            <a:r>
              <a:rPr sz="2000" b="0">
                <a:solidFill>
                  <a:srgbClr val="333333"/>
                </a:solidFill>
                <a:latin typeface="Consolas"/>
              </a:rPr>
              <a:t>make run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build logs — confirm generated dirs and the run log</a:t>
            </a:r>
          </a:p>
          <a:p>
            <a:pPr>
              <a:lnSpc>
                <a:spcPts val="2200"/>
              </a:lnSpc>
              <a:spcAft>
                <a:spcPts val="600"/>
              </a:spcAft>
            </a:pPr>
            <a:r>
              <a:rPr sz="2000" b="0">
                <a:solidFill>
                  <a:srgbClr val="333333"/>
                </a:solidFill>
                <a:latin typeface="Consolas"/>
              </a:rPr>
              <a:t>ls -la build logs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clean — remove generated files under build/ and logs/</a:t>
            </a:r>
          </a:p>
          <a:p>
            <a:pPr>
              <a:lnSpc>
                <a:spcPts val="2200"/>
              </a:lnSpc>
              <a:spcAft>
                <a:spcPts val="600"/>
              </a:spcAft>
            </a:pPr>
            <a:r>
              <a:rPr sz="2000" b="0">
                <a:solidFill>
                  <a:srgbClr val="333333"/>
                </a:solidFill>
                <a:latin typeface="Consolas"/>
              </a:rPr>
              <a:t>make clean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build logs — verify cleanup left the directories tidy</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make from the project root so paths in the Makefile resolve</a:t>
            </a:r>
          </a:p>
          <a:p>
            <a:pPr lvl="0" marL="457200" indent="-228600">
              <a:buFont typeface="Calibri"/>
              <a:spcAft>
                <a:spcPts val="1000"/>
              </a:spcAft>
              <a:buSzPct val="100000"/>
              <a:buChar char="•"/>
              <a:lnSpc>
                <a:spcPts val="2200"/>
              </a:lnSpc>
            </a:pPr>
            <a:r>
              <a:rPr sz="2000" b="0">
                <a:solidFill>
                  <a:srgbClr val="333333"/>
                </a:solidFill>
                <a:latin typeface="Calibri"/>
              </a:rPr>
              <a:t>Recipes must use a real tab, not spaces</a:t>
            </a:r>
          </a:p>
          <a:p>
            <a:pPr lvl="0" marL="457200" indent="-228600">
              <a:buFont typeface="Calibri"/>
              <a:spcAft>
                <a:spcPts val="1000"/>
              </a:spcAft>
              <a:buSzPct val="100000"/>
              <a:buChar char="•"/>
              <a:lnSpc>
                <a:spcPts val="2200"/>
              </a:lnSpc>
            </a:pPr>
            <a:r>
              <a:rPr sz="2000" b="0">
                <a:solidFill>
                  <a:srgbClr val="333333"/>
                </a:solidFill>
                <a:latin typeface="Calibri"/>
              </a:rPr>
              <a:t>Do not create a file named clean if clean is a phony target, or mark it .PHONY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clear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run help, build, run, and clean in the sample project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dry-run mindset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make basics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
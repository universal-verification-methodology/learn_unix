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make sim fails, the log is your first stop—not a random rewrite of the RTL. This module teaches triage: skim the end of the log, search for error and warn lines, then classify the failure as a real design fail, an environment problem, or a flake.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last lines—tail shows where the run stopped. Grep for error and warn, case-insensitive, so you do not miss mixed case. Ask: is this expect-got in the testbench, command not found on PATH, or something that passes alone and fails in parallel? Classification decides whether you fix RTL, fix env, or chase timing.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load the starter example. You will see short Make and sim log snippets and buttons to mark fail, env, or flake. Read the cues, classify a few cases, and notice how env failures look different from assertion mismatches. Orient yourself with the case list and the challenge strip, then practice the same search habits on a real shell.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Unix track, open this module’s sample log. Print where you are and list the files. Count the lines, then show the last five so you see how the run ended. Grep for error and warn, then for ERROR with line numbers. You will reuse this pattern on every CI and local sim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rewrite RTL when the log says command not found. Do not ignore warn lines that foreshadow a timeout. And remember: the browser lab trains classification; lasting skill means tail and grep on real logs before you change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classify a few fail, env, and flake cases after the starter. On the real shell, triage the sample log with tail and grep. When you are ready, take the short quiz, then continue to env-file literacy.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Log and failure triage</a:t>
            </a:r>
          </a:p>
          <a:p>
            <a:pPr algn="ctr">
              <a:lnSpc>
                <a:spcPts val="2200"/>
              </a:lnSpc>
              <a:spcBef>
                <a:spcPts val="1400"/>
              </a:spcBef>
            </a:pPr>
            <a:r>
              <a:rPr sz="2600" b="0">
                <a:solidFill>
                  <a:srgbClr val="333333"/>
                </a:solidFill>
                <a:latin typeface="Calibri"/>
              </a:rPr>
              <a:t>When make sim fails, the log is your first stop, not a random rewrite of the RTL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Tail, grep, then classify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 with the last lines, tail shows where the run stopped</a:t>
            </a:r>
          </a:p>
          <a:p>
            <a:pPr lvl="0" marL="457200" indent="-228600">
              <a:buFont typeface="Calibri"/>
              <a:spcAft>
                <a:spcPts val="1000"/>
              </a:spcAft>
              <a:buSzPct val="100000"/>
              <a:buChar char="•"/>
              <a:lnSpc>
                <a:spcPts val="2200"/>
              </a:lnSpc>
            </a:pPr>
            <a:r>
              <a:rPr sz="2000" b="0">
                <a:solidFill>
                  <a:srgbClr val="333333"/>
                </a:solidFill>
                <a:latin typeface="Calibri"/>
              </a:rPr>
              <a:t>Grep for error and warn, case-insensitive, so you do not miss mixed case</a:t>
            </a:r>
          </a:p>
          <a:p>
            <a:pPr lvl="0" marL="457200" indent="-228600">
              <a:buFont typeface="Calibri"/>
              <a:spcAft>
                <a:spcPts val="1000"/>
              </a:spcAft>
              <a:buSzPct val="100000"/>
              <a:buChar char="•"/>
              <a:lnSpc>
                <a:spcPts val="2200"/>
              </a:lnSpc>
            </a:pPr>
            <a:r>
              <a:rPr sz="2000" b="0">
                <a:solidFill>
                  <a:srgbClr val="333333"/>
                </a:solidFill>
                <a:latin typeface="Calibri"/>
              </a:rPr>
              <a:t>Ask: is this expect-got in the testbench</a:t>
            </a:r>
          </a:p>
          <a:p>
            <a:pPr lvl="0" marL="457200" indent="-228600">
              <a:buFont typeface="Calibri"/>
              <a:spcAft>
                <a:spcPts val="1000"/>
              </a:spcAft>
              <a:buSzPct val="100000"/>
              <a:buChar char="•"/>
              <a:lnSpc>
                <a:spcPts val="2200"/>
              </a:lnSpc>
            </a:pPr>
            <a:r>
              <a:rPr sz="2000" b="0">
                <a:solidFill>
                  <a:srgbClr val="333333"/>
                </a:solidFill>
                <a:latin typeface="Calibri"/>
              </a:rPr>
              <a:t>Classification decides whether you fix RTL, fix env, or chase timing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2723744" cy="4571999"/>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Log triage lab</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a:t>
            </a:r>
          </a:p>
        </p:txBody>
      </p:sp>
      <p:pic>
        <p:nvPicPr>
          <p:cNvPr id="3" name="Picture 2" descr="real-shell.png"/>
          <p:cNvPicPr>
            <a:picLocks noChangeAspect="1"/>
          </p:cNvPicPr>
          <p:nvPr/>
        </p:nvPicPr>
        <p:blipFill>
          <a:blip r:embed="rId2"/>
          <a:stretch>
            <a:fillRect/>
          </a:stretch>
        </p:blipFill>
        <p:spPr>
          <a:xfrm>
            <a:off x="548640" y="1143000"/>
            <a:ext cx="58928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log triage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shell practice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600"/>
              </a:spcAft>
            </a:pPr>
            <a:r>
              <a:rPr sz="2000" b="0">
                <a:solidFill>
                  <a:srgbClr val="333333"/>
                </a:solidFill>
                <a:latin typeface="Consolas"/>
              </a:rPr>
              <a:t># pwd — print working directory (where am I?)</a:t>
            </a:r>
          </a:p>
          <a:p>
            <a:pPr>
              <a:lnSpc>
                <a:spcPts val="2200"/>
              </a:lnSpc>
              <a:spcAft>
                <a:spcPts val="600"/>
              </a:spcAft>
            </a:pPr>
            <a:r>
              <a:rPr sz="2000" b="0">
                <a:solidFill>
                  <a:srgbClr val="333333"/>
                </a:solidFill>
                <a:latin typeface="Consolas"/>
              </a:rPr>
              <a:t>pwd</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ls -la — list all entries, long format (what is here?)</a:t>
            </a:r>
          </a:p>
          <a:p>
            <a:pPr>
              <a:lnSpc>
                <a:spcPts val="2200"/>
              </a:lnSpc>
              <a:spcAft>
                <a:spcPts val="600"/>
              </a:spcAft>
            </a:pPr>
            <a:r>
              <a:rPr sz="2000" b="0">
                <a:solidFill>
                  <a:srgbClr val="333333"/>
                </a:solidFill>
                <a:latin typeface="Consolas"/>
              </a:rPr>
              <a:t>ls -la</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wc -l sample.log — count lines in the sample log</a:t>
            </a:r>
          </a:p>
          <a:p>
            <a:pPr>
              <a:lnSpc>
                <a:spcPts val="2200"/>
              </a:lnSpc>
              <a:spcAft>
                <a:spcPts val="600"/>
              </a:spcAft>
            </a:pPr>
            <a:r>
              <a:rPr sz="2000" b="0">
                <a:solidFill>
                  <a:srgbClr val="333333"/>
                </a:solidFill>
                <a:latin typeface="Consolas"/>
              </a:rPr>
              <a:t>wc -l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tail -5 sample.log — show the last five lines (how did it end?)</a:t>
            </a:r>
          </a:p>
          <a:p>
            <a:pPr>
              <a:lnSpc>
                <a:spcPts val="2200"/>
              </a:lnSpc>
              <a:spcAft>
                <a:spcPts val="600"/>
              </a:spcAft>
            </a:pPr>
            <a:r>
              <a:rPr sz="2000" b="0">
                <a:solidFill>
                  <a:srgbClr val="333333"/>
                </a:solidFill>
                <a:latin typeface="Consolas"/>
              </a:rPr>
              <a:t>tail -5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-i error sample.log — find error lines, case-insensitive</a:t>
            </a:r>
          </a:p>
          <a:p>
            <a:pPr>
              <a:lnSpc>
                <a:spcPts val="2200"/>
              </a:lnSpc>
              <a:spcAft>
                <a:spcPts val="600"/>
              </a:spcAft>
            </a:pPr>
            <a:r>
              <a:rPr sz="2000" b="0">
                <a:solidFill>
                  <a:srgbClr val="333333"/>
                </a:solidFill>
                <a:latin typeface="Consolas"/>
              </a:rPr>
              <a:t>grep -i error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-i warn sample.log — find warn lines, case-insensitive</a:t>
            </a:r>
          </a:p>
          <a:p>
            <a:pPr>
              <a:lnSpc>
                <a:spcPts val="2200"/>
              </a:lnSpc>
              <a:spcAft>
                <a:spcPts val="600"/>
              </a:spcAft>
            </a:pPr>
            <a:r>
              <a:rPr sz="2000" b="0">
                <a:solidFill>
                  <a:srgbClr val="333333"/>
                </a:solidFill>
                <a:latin typeface="Consolas"/>
              </a:rPr>
              <a:t>grep -i warn sample.log</a:t>
            </a:r>
          </a:p>
          <a:p>
            <a:pPr>
              <a:lnSpc>
                <a:spcPts val="2200"/>
              </a:lnSpc>
              <a:spcAft>
                <a:spcPts val="600"/>
              </a:spcAft>
            </a:pPr>
            <a:r>
              <a:rPr sz="2000" b="0">
                <a:solidFill>
                  <a:srgbClr val="333333"/>
                </a:solidFill>
                <a:latin typeface="Consolas"/>
              </a:rPr>
              <a:t/>
            </a:r>
          </a:p>
          <a:p>
            <a:pPr>
              <a:lnSpc>
                <a:spcPts val="2200"/>
              </a:lnSpc>
              <a:spcAft>
                <a:spcPts val="600"/>
              </a:spcAft>
            </a:pPr>
            <a:r>
              <a:rPr sz="2000" b="0">
                <a:solidFill>
                  <a:srgbClr val="333333"/>
                </a:solidFill>
                <a:latin typeface="Consolas"/>
              </a:rPr>
              <a:t># grep -n ERROR sample.log — ERROR matches with line numbers</a:t>
            </a:r>
          </a:p>
          <a:p>
            <a:pPr>
              <a:lnSpc>
                <a:spcPts val="2200"/>
              </a:lnSpc>
              <a:spcAft>
                <a:spcPts val="600"/>
              </a:spcAft>
            </a:pPr>
            <a:r>
              <a:rPr sz="2000" b="0">
                <a:solidFill>
                  <a:srgbClr val="333333"/>
                </a:solidFill>
                <a:latin typeface="Consolas"/>
              </a:rPr>
              <a:t>grep -n ERROR sample.log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rewrite RTL when the log says command not found</a:t>
            </a:r>
          </a:p>
          <a:p>
            <a:pPr lvl="0" marL="457200" indent="-228600">
              <a:buFont typeface="Calibri"/>
              <a:spcAft>
                <a:spcPts val="1000"/>
              </a:spcAft>
              <a:buSzPct val="100000"/>
              <a:buChar char="•"/>
              <a:lnSpc>
                <a:spcPts val="2200"/>
              </a:lnSpc>
            </a:pPr>
            <a:r>
              <a:rPr sz="2000" b="0">
                <a:solidFill>
                  <a:srgbClr val="333333"/>
                </a:solidFill>
                <a:latin typeface="Calibri"/>
              </a:rPr>
              <a:t>Do not ignore warn lines that foreshadow a timeout</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classify a few fail, env, and flake cases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the real shell, triage the sample log with tail and grep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env-file literacy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learn_unix — log triage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
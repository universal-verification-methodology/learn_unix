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is your first real practice: moving around a directory tree and listing what is there. In design work you will do this constantly—open a project, find the RTL folder, peek at a testbench, then jump back. We will use the browser lab for intuition, then the same ideas on a real shell.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terminal session always has a current working directory. Print it with pwd—print working directory. Change it with cd—change directory. List what is here with ls—list. Relative paths are resolved against where you are now; that is why the same short path can succeed in one place and fail after you move.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look at three pieces: the challenge card, the sandboxed prompt, and the tree on the side. Start the first challenge: try ls to list names, or cd to change directory, then use Check when you think you are done. You do not need a full tour here—the lab itself guides the rest. Explore a few challenges, then come back for the real shell track.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real Unix track, open this module’s navigation example in your terminal. First run pwd to print the working directory—so you know where you are. Then run ls with minus ell ay: long format, and include hidden files that start with a dot. Next, cd into sample_repo to change into that folder, run ls again for a short name list, then cd with two dots to move up one level. Those three moves—where am I, what is here, go somewhere—are the muscle you will reuse in every later module, including when you run simulators like Icarus and Verilator.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confuse a directory name with a file name when you change directories. Remember that a leading slash starts from the filesystem root, while a plain name is relative to where you are. Hidden files start with a dot and may not show unless you ask for them with a flag like minus ay. And remember: the browser lab is for literacy—scripts you keep still belong on a real shell.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finish a few challenges after the starter. On the real shell, work through the navigation example, then try listing and a short peek at one of the viewing sample files. When you are ready, take the short quiz, then continue to the next module on discovering help with man and help flags.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Virtual filesystem terminal</a:t>
            </a:r>
          </a:p>
          <a:p>
            <a:pPr algn="ctr">
              <a:lnSpc>
                <a:spcPts val="2200"/>
              </a:lnSpc>
              <a:spcBef>
                <a:spcPts val="1400"/>
              </a:spcBef>
            </a:pPr>
            <a:r>
              <a:rPr sz="2600" b="0">
                <a:solidFill>
                  <a:srgbClr val="333333"/>
                </a:solidFill>
                <a:latin typeface="Calibri"/>
              </a:rPr>
              <a:t>This module is your first real practice: moving around a directory tree and listing what is there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learn_unix — vfs terminal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shell has a current directory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terminal session always has a current working directory</a:t>
            </a:r>
          </a:p>
          <a:p>
            <a:pPr lvl="0" marL="457200" indent="-228600">
              <a:buFont typeface="Calibri"/>
              <a:spcAft>
                <a:spcPts val="1000"/>
              </a:spcAft>
              <a:buSzPct val="100000"/>
              <a:buChar char="•"/>
              <a:lnSpc>
                <a:spcPts val="2200"/>
              </a:lnSpc>
            </a:pPr>
            <a:r>
              <a:rPr sz="2000" b="0">
                <a:solidFill>
                  <a:srgbClr val="333333"/>
                </a:solidFill>
                <a:latin typeface="Calibri"/>
              </a:rPr>
              <a:t>Print it with pwd, print working directory</a:t>
            </a:r>
          </a:p>
          <a:p>
            <a:pPr lvl="0" marL="457200" indent="-228600">
              <a:buFont typeface="Calibri"/>
              <a:spcAft>
                <a:spcPts val="1000"/>
              </a:spcAft>
              <a:buSzPct val="100000"/>
              <a:buChar char="•"/>
              <a:lnSpc>
                <a:spcPts val="2200"/>
              </a:lnSpc>
            </a:pPr>
            <a:r>
              <a:rPr sz="2000" b="0">
                <a:solidFill>
                  <a:srgbClr val="333333"/>
                </a:solidFill>
                <a:latin typeface="Calibri"/>
              </a:rPr>
              <a:t>Change it with cd, change directory</a:t>
            </a:r>
          </a:p>
          <a:p>
            <a:pPr lvl="0" marL="457200" indent="-228600">
              <a:buFont typeface="Calibri"/>
              <a:spcAft>
                <a:spcPts val="1000"/>
              </a:spcAft>
              <a:buSzPct val="100000"/>
              <a:buChar char="•"/>
              <a:lnSpc>
                <a:spcPts val="2200"/>
              </a:lnSpc>
            </a:pPr>
            <a:r>
              <a:rPr sz="2000" b="0">
                <a:solidFill>
                  <a:srgbClr val="333333"/>
                </a:solidFill>
                <a:latin typeface="Calibri"/>
              </a:rPr>
              <a:t>List what is here with ls, list</a:t>
            </a:r>
          </a:p>
          <a:p>
            <a:pPr lvl="0" marL="457200" indent="-228600">
              <a:buFont typeface="Calibri"/>
              <a:spcAft>
                <a:spcPts val="1000"/>
              </a:spcAft>
              <a:buSzPct val="100000"/>
              <a:buChar char="•"/>
              <a:lnSpc>
                <a:spcPts val="2200"/>
              </a:lnSpc>
            </a:pPr>
            <a:r>
              <a:rPr sz="2000" b="0">
                <a:solidFill>
                  <a:srgbClr val="333333"/>
                </a:solidFill>
                <a:latin typeface="Calibri"/>
              </a:rPr>
              <a:t>Relative paths are resolved against where you are now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learn_unix — vfs terminal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Virtual filesystem terminal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learn_unix — vfs terminal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Real shell practice</a:t>
            </a:r>
          </a:p>
        </p:txBody>
      </p:sp>
      <p:pic>
        <p:nvPicPr>
          <p:cNvPr id="3" name="Picture 2" descr="real-shell.png"/>
          <p:cNvPicPr>
            <a:picLocks noChangeAspect="1"/>
          </p:cNvPicPr>
          <p:nvPr/>
        </p:nvPicPr>
        <p:blipFill>
          <a:blip r:embed="rId2"/>
          <a:stretch>
            <a:fillRect/>
          </a:stretch>
        </p:blipFill>
        <p:spPr>
          <a:xfrm>
            <a:off x="548640" y="1143000"/>
            <a:ext cx="8192429"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Real WSL shell — navigation example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learn_unix — vfs terminal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Real shell practice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600"/>
              </a:spcAft>
            </a:pPr>
            <a:r>
              <a:rPr sz="2000" b="0">
                <a:solidFill>
                  <a:srgbClr val="333333"/>
                </a:solidFill>
                <a:latin typeface="Consolas"/>
              </a:rPr>
              <a:t># pwd — print working directory (where am I?)</a:t>
            </a:r>
          </a:p>
          <a:p>
            <a:pPr>
              <a:lnSpc>
                <a:spcPts val="2200"/>
              </a:lnSpc>
              <a:spcAft>
                <a:spcPts val="600"/>
              </a:spcAft>
            </a:pPr>
            <a:r>
              <a:rPr sz="2000" b="0">
                <a:solidFill>
                  <a:srgbClr val="333333"/>
                </a:solidFill>
                <a:latin typeface="Consolas"/>
              </a:rPr>
              <a:t>pwd</a:t>
            </a:r>
          </a:p>
          <a:p>
            <a:pPr>
              <a:lnSpc>
                <a:spcPts val="2200"/>
              </a:lnSpc>
              <a:spcAft>
                <a:spcPts val="600"/>
              </a:spcAft>
            </a:pPr>
            <a:r>
              <a:rPr sz="2000" b="0">
                <a:solidFill>
                  <a:srgbClr val="333333"/>
                </a:solidFill>
                <a:latin typeface="Consolas"/>
              </a:rPr>
              <a:t/>
            </a:r>
          </a:p>
          <a:p>
            <a:pPr>
              <a:lnSpc>
                <a:spcPts val="2200"/>
              </a:lnSpc>
              <a:spcAft>
                <a:spcPts val="600"/>
              </a:spcAft>
            </a:pPr>
            <a:r>
              <a:rPr sz="2000" b="0">
                <a:solidFill>
                  <a:srgbClr val="333333"/>
                </a:solidFill>
                <a:latin typeface="Consolas"/>
              </a:rPr>
              <a:t># ls -la — list all entries, long format (what is here?)</a:t>
            </a:r>
          </a:p>
          <a:p>
            <a:pPr>
              <a:lnSpc>
                <a:spcPts val="2200"/>
              </a:lnSpc>
              <a:spcAft>
                <a:spcPts val="600"/>
              </a:spcAft>
            </a:pPr>
            <a:r>
              <a:rPr sz="2000" b="0">
                <a:solidFill>
                  <a:srgbClr val="333333"/>
                </a:solidFill>
                <a:latin typeface="Consolas"/>
              </a:rPr>
              <a:t>ls -la</a:t>
            </a:r>
          </a:p>
          <a:p>
            <a:pPr>
              <a:lnSpc>
                <a:spcPts val="2200"/>
              </a:lnSpc>
              <a:spcAft>
                <a:spcPts val="600"/>
              </a:spcAft>
            </a:pPr>
            <a:r>
              <a:rPr sz="2000" b="0">
                <a:solidFill>
                  <a:srgbClr val="333333"/>
                </a:solidFill>
                <a:latin typeface="Consolas"/>
              </a:rPr>
              <a:t/>
            </a:r>
          </a:p>
          <a:p>
            <a:pPr>
              <a:lnSpc>
                <a:spcPts val="2200"/>
              </a:lnSpc>
              <a:spcAft>
                <a:spcPts val="600"/>
              </a:spcAft>
            </a:pPr>
            <a:r>
              <a:rPr sz="2000" b="0">
                <a:solidFill>
                  <a:srgbClr val="333333"/>
                </a:solidFill>
                <a:latin typeface="Consolas"/>
              </a:rPr>
              <a:t># cd sample_repo — change into this directory</a:t>
            </a:r>
          </a:p>
          <a:p>
            <a:pPr>
              <a:lnSpc>
                <a:spcPts val="2200"/>
              </a:lnSpc>
              <a:spcAft>
                <a:spcPts val="600"/>
              </a:spcAft>
            </a:pPr>
            <a:r>
              <a:rPr sz="2000" b="0">
                <a:solidFill>
                  <a:srgbClr val="333333"/>
                </a:solidFill>
                <a:latin typeface="Consolas"/>
              </a:rPr>
              <a:t>cd sample_repo</a:t>
            </a:r>
          </a:p>
          <a:p>
            <a:pPr>
              <a:lnSpc>
                <a:spcPts val="2200"/>
              </a:lnSpc>
              <a:spcAft>
                <a:spcPts val="600"/>
              </a:spcAft>
            </a:pPr>
            <a:r>
              <a:rPr sz="2000" b="0">
                <a:solidFill>
                  <a:srgbClr val="333333"/>
                </a:solidFill>
                <a:latin typeface="Consolas"/>
              </a:rPr>
              <a:t/>
            </a:r>
          </a:p>
          <a:p>
            <a:pPr>
              <a:lnSpc>
                <a:spcPts val="2200"/>
              </a:lnSpc>
              <a:spcAft>
                <a:spcPts val="600"/>
              </a:spcAft>
            </a:pPr>
            <a:r>
              <a:rPr sz="2000" b="0">
                <a:solidFill>
                  <a:srgbClr val="333333"/>
                </a:solidFill>
                <a:latin typeface="Consolas"/>
              </a:rPr>
              <a:t># ls — list names only</a:t>
            </a:r>
          </a:p>
          <a:p>
            <a:pPr>
              <a:lnSpc>
                <a:spcPts val="2200"/>
              </a:lnSpc>
              <a:spcAft>
                <a:spcPts val="600"/>
              </a:spcAft>
            </a:pPr>
            <a:r>
              <a:rPr sz="2000" b="0">
                <a:solidFill>
                  <a:srgbClr val="333333"/>
                </a:solidFill>
                <a:latin typeface="Consolas"/>
              </a:rPr>
              <a:t>ls</a:t>
            </a:r>
          </a:p>
          <a:p>
            <a:pPr>
              <a:lnSpc>
                <a:spcPts val="2200"/>
              </a:lnSpc>
              <a:spcAft>
                <a:spcPts val="600"/>
              </a:spcAft>
            </a:pPr>
            <a:r>
              <a:rPr sz="2000" b="0">
                <a:solidFill>
                  <a:srgbClr val="333333"/>
                </a:solidFill>
                <a:latin typeface="Consolas"/>
              </a:rPr>
              <a:t/>
            </a:r>
          </a:p>
          <a:p>
            <a:pPr>
              <a:lnSpc>
                <a:spcPts val="2200"/>
              </a:lnSpc>
              <a:spcAft>
                <a:spcPts val="600"/>
              </a:spcAft>
            </a:pPr>
            <a:r>
              <a:rPr sz="2000" b="0">
                <a:solidFill>
                  <a:srgbClr val="333333"/>
                </a:solidFill>
                <a:latin typeface="Consolas"/>
              </a:rPr>
              <a:t># cd .. — go up one directory</a:t>
            </a:r>
          </a:p>
          <a:p>
            <a:pPr>
              <a:lnSpc>
                <a:spcPts val="2200"/>
              </a:lnSpc>
              <a:spcAft>
                <a:spcPts val="600"/>
              </a:spcAft>
            </a:pPr>
            <a:r>
              <a:rPr sz="2000" b="0">
                <a:solidFill>
                  <a:srgbClr val="333333"/>
                </a:solidFill>
                <a:latin typeface="Consolas"/>
              </a:rPr>
              <a:t>cd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learn_unix — vfs terminal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confuse a directory name with a file name when you change directories</a:t>
            </a:r>
          </a:p>
          <a:p>
            <a:pPr lvl="0" marL="457200" indent="-228600">
              <a:buFont typeface="Calibri"/>
              <a:spcAft>
                <a:spcPts val="1000"/>
              </a:spcAft>
              <a:buSzPct val="100000"/>
              <a:buChar char="•"/>
              <a:lnSpc>
                <a:spcPts val="2200"/>
              </a:lnSpc>
            </a:pPr>
            <a:r>
              <a:rPr sz="2000" b="0">
                <a:solidFill>
                  <a:srgbClr val="333333"/>
                </a:solidFill>
                <a:latin typeface="Calibri"/>
              </a:rPr>
              <a:t>Remember that a leading slash starts from the filesystem root</a:t>
            </a:r>
          </a:p>
          <a:p>
            <a:pPr lvl="0" marL="457200" indent="-228600">
              <a:buFont typeface="Calibri"/>
              <a:spcAft>
                <a:spcPts val="1000"/>
              </a:spcAft>
              <a:buSzPct val="100000"/>
              <a:buChar char="•"/>
              <a:lnSpc>
                <a:spcPts val="2200"/>
              </a:lnSpc>
            </a:pPr>
            <a:r>
              <a:rPr sz="2000" b="0">
                <a:solidFill>
                  <a:srgbClr val="333333"/>
                </a:solidFill>
                <a:latin typeface="Calibri"/>
              </a:rPr>
              <a:t>Hidden files start with a dot and may not show unless you ask for them with a flag like</a:t>
            </a:r>
          </a:p>
          <a:p>
            <a:pPr lvl="0" marL="457200" indent="-228600">
              <a:buFont typeface="Calibri"/>
              <a:spcAft>
                <a:spcPts val="1000"/>
              </a:spcAft>
              <a:buSzPct val="100000"/>
              <a:buChar char="•"/>
              <a:lnSpc>
                <a:spcPts val="2200"/>
              </a:lnSpc>
            </a:pPr>
            <a:r>
              <a:rPr sz="2000" b="0">
                <a:solidFill>
                  <a:srgbClr val="333333"/>
                </a:solidFill>
                <a:latin typeface="Calibri"/>
              </a:rPr>
              <a:t>And remember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learn_unix — vfs terminal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finish a few challenges after the starter</a:t>
            </a:r>
          </a:p>
          <a:p>
            <a:pPr lvl="0" marL="457200" indent="-228600">
              <a:buFont typeface="Calibri"/>
              <a:spcAft>
                <a:spcPts val="1000"/>
              </a:spcAft>
              <a:buSzPct val="100000"/>
              <a:buChar char="•"/>
              <a:lnSpc>
                <a:spcPts val="2200"/>
              </a:lnSpc>
            </a:pPr>
            <a:r>
              <a:rPr sz="2000" b="0">
                <a:solidFill>
                  <a:srgbClr val="333333"/>
                </a:solidFill>
                <a:latin typeface="Calibri"/>
              </a:rPr>
              <a:t>On the real shell</a:t>
            </a:r>
          </a:p>
          <a:p>
            <a:pPr lvl="0" marL="457200" indent="-228600">
              <a:buFont typeface="Calibri"/>
              <a:spcAft>
                <a:spcPts val="1000"/>
              </a:spcAft>
              <a:buSzPct val="100000"/>
              <a:buChar char="•"/>
              <a:lnSpc>
                <a:spcPts val="2200"/>
              </a:lnSpc>
            </a:pPr>
            <a:r>
              <a:rPr sz="2000" b="0">
                <a:solidFill>
                  <a:srgbClr val="333333"/>
                </a:solidFill>
                <a:latin typeface="Calibri"/>
              </a:rPr>
              <a:t>When you are ready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learn_unix — vfs terminal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
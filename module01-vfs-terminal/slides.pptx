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module is your first real practice: moving around a directory tree and listing what is there. In design work you will do this constantly—open a project, find the RTL folder, peek at a testbench, then jump back. We will use the browser lab for intuition, then the same ideas on a real shell.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terminal session always has a current working directory. Print it with the print-working-directory command. Change it with change-directory. List what is here with the list command. Relative paths are resolved against where you are now; that is why the same short path can succeed in one place and fail after you move.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look at three pieces: the challenge card, the sandboxed prompt, and the tree on the side. Start the first challenge, try a list or a change-directory, then use Check when you think you are done. You do not need a full tour here—the lab itself guides the rest. Explore a few challenges, then come back for the real shell track.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Unix track, open this module’s navigation example in your terminal. Print the working directory, list with a long listing, step into the sample project folder, then move back up. Those three moves—where am I, what is here, go somewhere—are the muscle you will reuse in every later module, including when you run simulators like Icarus and Verilator. More trees live under this module’s examples folder when you want extra practice.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confuse a directory name with a file name when you change directories. Remember that a leading slash starts from the filesystem root, while a plain name is relative to where you are. Hidden files start with a dot and may not show unless you ask for them. And remember: the browser lab is for literacy—scripts you keep still belong on a real shell.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finish a few challenges after the starter. On the real shell, work through the navigation example, then try listing and a short peek at one of the viewing sample files. When you are ready, take the short quiz, then continue to the next module on discovering help with man and help flags.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Virtual filesystem terminal</a:t>
            </a:r>
          </a:p>
          <a:p>
            <a:pPr algn="ctr">
              <a:lnSpc>
                <a:spcPts val="2200"/>
              </a:lnSpc>
              <a:spcBef>
                <a:spcPts val="1400"/>
              </a:spcBef>
            </a:pPr>
            <a:r>
              <a:rPr sz="2600" b="0">
                <a:solidFill>
                  <a:srgbClr val="333333"/>
                </a:solidFill>
                <a:latin typeface="Calibri"/>
              </a:rPr>
              <a:t>This module is your first real practice: moving around a directory tree and listing what is there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vfs terminal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shell has a current directory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 terminal session always has a current working directory</a:t>
            </a:r>
          </a:p>
          <a:p>
            <a:pPr lvl="0" marL="457200" indent="-228600">
              <a:buFont typeface="Calibri"/>
              <a:spcAft>
                <a:spcPts val="1000"/>
              </a:spcAft>
              <a:buSzPct val="100000"/>
              <a:buChar char="•"/>
              <a:lnSpc>
                <a:spcPts val="2200"/>
              </a:lnSpc>
            </a:pPr>
            <a:r>
              <a:rPr sz="2000" b="0">
                <a:solidFill>
                  <a:srgbClr val="333333"/>
                </a:solidFill>
                <a:latin typeface="Calibri"/>
              </a:rPr>
              <a:t>Print it with the print-working-directory command</a:t>
            </a:r>
          </a:p>
          <a:p>
            <a:pPr lvl="0" marL="457200" indent="-228600">
              <a:buFont typeface="Calibri"/>
              <a:spcAft>
                <a:spcPts val="1000"/>
              </a:spcAft>
              <a:buSzPct val="100000"/>
              <a:buChar char="•"/>
              <a:lnSpc>
                <a:spcPts val="2200"/>
              </a:lnSpc>
            </a:pPr>
            <a:r>
              <a:rPr sz="2000" b="0">
                <a:solidFill>
                  <a:srgbClr val="333333"/>
                </a:solidFill>
                <a:latin typeface="Calibri"/>
              </a:rPr>
              <a:t>Change it with change-directory</a:t>
            </a:r>
          </a:p>
          <a:p>
            <a:pPr lvl="0" marL="457200" indent="-228600">
              <a:buFont typeface="Calibri"/>
              <a:spcAft>
                <a:spcPts val="1000"/>
              </a:spcAft>
              <a:buSzPct val="100000"/>
              <a:buChar char="•"/>
              <a:lnSpc>
                <a:spcPts val="2200"/>
              </a:lnSpc>
            </a:pPr>
            <a:r>
              <a:rPr sz="2000" b="0">
                <a:solidFill>
                  <a:srgbClr val="333333"/>
                </a:solidFill>
                <a:latin typeface="Calibri"/>
              </a:rPr>
              <a:t>List what is here with the list command</a:t>
            </a:r>
          </a:p>
          <a:p>
            <a:pPr lvl="0" marL="457200" indent="-228600">
              <a:buFont typeface="Calibri"/>
              <a:spcAft>
                <a:spcPts val="1000"/>
              </a:spcAft>
              <a:buSzPct val="100000"/>
              <a:buChar char="•"/>
              <a:lnSpc>
                <a:spcPts val="2200"/>
              </a:lnSpc>
            </a:pPr>
            <a:r>
              <a:rPr sz="2000" b="0">
                <a:solidFill>
                  <a:srgbClr val="333333"/>
                </a:solidFill>
                <a:latin typeface="Calibri"/>
              </a:rPr>
              <a:t>Relative paths are resolved against where you are now</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vfs terminal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Virtual filesystem terminal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vfs terminal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a:t>
            </a:r>
          </a:p>
        </p:txBody>
      </p:sp>
      <p:pic>
        <p:nvPicPr>
          <p:cNvPr id="3" name="Picture 2" descr="real-shell.png"/>
          <p:cNvPicPr>
            <a:picLocks noChangeAspect="1"/>
          </p:cNvPicPr>
          <p:nvPr/>
        </p:nvPicPr>
        <p:blipFill>
          <a:blip r:embed="rId2"/>
          <a:stretch>
            <a:fillRect/>
          </a:stretch>
        </p:blipFill>
        <p:spPr>
          <a:xfrm>
            <a:off x="548640" y="1143000"/>
            <a:ext cx="8192429"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WSL shell — navigation example</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vfs terminal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pwd</a:t>
            </a:r>
          </a:p>
          <a:p>
            <a:pPr>
              <a:lnSpc>
                <a:spcPts val="2200"/>
              </a:lnSpc>
              <a:spcAft>
                <a:spcPts val="400"/>
              </a:spcAft>
            </a:pPr>
            <a:r>
              <a:rPr sz="2000" b="0">
                <a:solidFill>
                  <a:srgbClr val="333333"/>
                </a:solidFill>
                <a:latin typeface="Consolas"/>
              </a:rPr>
              <a:t>ls -la</a:t>
            </a:r>
          </a:p>
          <a:p>
            <a:pPr>
              <a:lnSpc>
                <a:spcPts val="2200"/>
              </a:lnSpc>
              <a:spcAft>
                <a:spcPts val="400"/>
              </a:spcAft>
            </a:pPr>
            <a:r>
              <a:rPr sz="2000" b="0">
                <a:solidFill>
                  <a:srgbClr val="333333"/>
                </a:solidFill>
                <a:latin typeface="Consolas"/>
              </a:rPr>
              <a:t>cd sample_repo</a:t>
            </a:r>
          </a:p>
          <a:p>
            <a:pPr>
              <a:lnSpc>
                <a:spcPts val="2200"/>
              </a:lnSpc>
              <a:spcAft>
                <a:spcPts val="400"/>
              </a:spcAft>
            </a:pPr>
            <a:r>
              <a:rPr sz="2000" b="0">
                <a:solidFill>
                  <a:srgbClr val="333333"/>
                </a:solidFill>
                <a:latin typeface="Consolas"/>
              </a:rPr>
              <a:t>ls</a:t>
            </a:r>
          </a:p>
          <a:p>
            <a:pPr>
              <a:lnSpc>
                <a:spcPts val="2200"/>
              </a:lnSpc>
              <a:spcAft>
                <a:spcPts val="400"/>
              </a:spcAft>
            </a:pPr>
            <a:r>
              <a:rPr sz="2000" b="0">
                <a:solidFill>
                  <a:srgbClr val="333333"/>
                </a:solidFill>
                <a:latin typeface="Consolas"/>
              </a:rPr>
              <a:t>cd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vfs terminal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confuse a directory name with a file name when you change directories</a:t>
            </a:r>
          </a:p>
          <a:p>
            <a:pPr lvl="0" marL="457200" indent="-228600">
              <a:buFont typeface="Calibri"/>
              <a:spcAft>
                <a:spcPts val="1000"/>
              </a:spcAft>
              <a:buSzPct val="100000"/>
              <a:buChar char="•"/>
              <a:lnSpc>
                <a:spcPts val="2200"/>
              </a:lnSpc>
            </a:pPr>
            <a:r>
              <a:rPr sz="2000" b="0">
                <a:solidFill>
                  <a:srgbClr val="333333"/>
                </a:solidFill>
                <a:latin typeface="Calibri"/>
              </a:rPr>
              <a:t>Remember that a leading slash starts from the filesystem root</a:t>
            </a:r>
          </a:p>
          <a:p>
            <a:pPr lvl="0" marL="457200" indent="-228600">
              <a:buFont typeface="Calibri"/>
              <a:spcAft>
                <a:spcPts val="1000"/>
              </a:spcAft>
              <a:buSzPct val="100000"/>
              <a:buChar char="•"/>
              <a:lnSpc>
                <a:spcPts val="2200"/>
              </a:lnSpc>
            </a:pPr>
            <a:r>
              <a:rPr sz="2000" b="0">
                <a:solidFill>
                  <a:srgbClr val="333333"/>
                </a:solidFill>
                <a:latin typeface="Calibri"/>
              </a:rPr>
              <a:t>Hidden files start with a dot and may not show unless you ask for them</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vfs terminal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finish a few challenges after the starter</a:t>
            </a:r>
          </a:p>
          <a:p>
            <a:pPr lvl="0" marL="457200" indent="-228600">
              <a:buFont typeface="Calibri"/>
              <a:spcAft>
                <a:spcPts val="1000"/>
              </a:spcAft>
              <a:buSzPct val="100000"/>
              <a:buChar char="•"/>
              <a:lnSpc>
                <a:spcPts val="2200"/>
              </a:lnSpc>
            </a:pPr>
            <a:r>
              <a:rPr sz="2000" b="0">
                <a:solidFill>
                  <a:srgbClr val="333333"/>
                </a:solidFill>
                <a:latin typeface="Calibri"/>
              </a:rPr>
              <a:t>On the real shell</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vfs terminal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
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Names that start with a dot are usually hidden from a plain list—and that is where a lot of your shell and tool configuration lives. Bashrc, gitignore, and the config directory under home shape how your environment behaves. This module teaches you to reveal those names safely and read them before you change anything.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plain list shows only visible names. Add all-files mode and the dots appear: hidden files, hidden directories, and project files like gitignore. Home is full of them—bashrc for interactive Bash, profile for login shells, gitconfig for your identity. Projects add their own, especially the git directory and ignore rules. Listing with all-files is the first habit; editing comes later.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You start in the lab home. Run a plain list, then list all so dotfiles appear. Open bashrc, then change into the chip project and inspect gitignore. Orient yourself with the listing and the preview panel, try a few challenges, then practice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this module’s dotfiles example folder. List with a plain list—you mostly see the visible files. List all, then list all in long format so hidden names and the hidden directory show up. Read the hidden sample file and the sample rc so you see they are ordinary text. Optionally peek at a few names in your real home with list-all and head—read only; do not edit configs until you know what they 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edit bashrc or profile until you understand the change—a typo can break new shells. Prefer read tools first: cat or less. Remember that star globs often skip leading-dot names unless you ask for them. And remember: the browser lab shows the idea; your real home and projects still live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the real shell, practice plain list versus list-all, and read a couple of sample dotfiles. When you are ready, take the short quiz, then continue to process list and signals.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Dotfiles &amp; config homes</a:t>
            </a:r>
          </a:p>
          <a:p>
            <a:pPr algn="ctr">
              <a:lnSpc>
                <a:spcPts val="2200"/>
              </a:lnSpc>
              <a:spcBef>
                <a:spcPts val="1400"/>
              </a:spcBef>
            </a:pPr>
            <a:r>
              <a:rPr sz="2600" b="0">
                <a:solidFill>
                  <a:srgbClr val="333333"/>
                </a:solidFill>
                <a:latin typeface="Calibri"/>
              </a:rPr>
              <a:t>Names that start with a dot are usually hidden from a plain list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dotfiles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Hidden names and home config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plain list shows only visible names</a:t>
            </a:r>
          </a:p>
          <a:p>
            <a:pPr lvl="0" marL="457200" indent="-228600">
              <a:buFont typeface="Calibri"/>
              <a:spcAft>
                <a:spcPts val="1000"/>
              </a:spcAft>
              <a:buSzPct val="100000"/>
              <a:buChar char="•"/>
              <a:lnSpc>
                <a:spcPts val="2200"/>
              </a:lnSpc>
            </a:pPr>
            <a:r>
              <a:rPr sz="2000" b="0">
                <a:solidFill>
                  <a:srgbClr val="333333"/>
                </a:solidFill>
                <a:latin typeface="Calibri"/>
              </a:rPr>
              <a:t>Add all-files mode and the dots appear</a:t>
            </a:r>
          </a:p>
          <a:p>
            <a:pPr lvl="0" marL="457200" indent="-228600">
              <a:buFont typeface="Calibri"/>
              <a:spcAft>
                <a:spcPts val="1000"/>
              </a:spcAft>
              <a:buSzPct val="100000"/>
              <a:buChar char="•"/>
              <a:lnSpc>
                <a:spcPts val="2200"/>
              </a:lnSpc>
            </a:pPr>
            <a:r>
              <a:rPr sz="2000" b="0">
                <a:solidFill>
                  <a:srgbClr val="333333"/>
                </a:solidFill>
                <a:latin typeface="Calibri"/>
              </a:rPr>
              <a:t>Home is full of them</a:t>
            </a:r>
          </a:p>
          <a:p>
            <a:pPr lvl="0" marL="457200" indent="-228600">
              <a:buFont typeface="Calibri"/>
              <a:spcAft>
                <a:spcPts val="1000"/>
              </a:spcAft>
              <a:buSzPct val="100000"/>
              <a:buChar char="•"/>
              <a:lnSpc>
                <a:spcPts val="2200"/>
              </a:lnSpc>
            </a:pPr>
            <a:r>
              <a:rPr sz="2000" b="0">
                <a:solidFill>
                  <a:srgbClr val="333333"/>
                </a:solidFill>
                <a:latin typeface="Calibri"/>
              </a:rPr>
              <a:t>Projects add their own, especially the git directory and ignore rules</a:t>
            </a:r>
          </a:p>
          <a:p>
            <a:pPr lvl="0" marL="457200" indent="-228600">
              <a:buFont typeface="Calibri"/>
              <a:spcAft>
                <a:spcPts val="1000"/>
              </a:spcAft>
              <a:buSzPct val="100000"/>
              <a:buChar char="•"/>
              <a:lnSpc>
                <a:spcPts val="2200"/>
              </a:lnSpc>
            </a:pPr>
            <a:r>
              <a:rPr sz="2000" b="0">
                <a:solidFill>
                  <a:srgbClr val="333333"/>
                </a:solidFill>
                <a:latin typeface="Calibri"/>
              </a:rPr>
              <a:t>Listing with all-files is the first habit; editing comes later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dotfiles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Dotfiles lab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dotfiles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4514645"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dotfiles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dotfiles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ls — plain list; dot-names stay hidden</a:t>
            </a:r>
          </a:p>
          <a:p>
            <a:pPr>
              <a:lnSpc>
                <a:spcPts val="2200"/>
              </a:lnSpc>
              <a:spcAft>
                <a:spcPts val="600"/>
              </a:spcAft>
            </a:pPr>
            <a:r>
              <a:rPr sz="2000" b="0">
                <a:solidFill>
                  <a:srgbClr val="333333"/>
                </a:solidFill>
                <a:latin typeface="Consolas"/>
              </a:rPr>
              <a:t>ls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-a — show all names, including those starting with a dot</a:t>
            </a:r>
          </a:p>
          <a:p>
            <a:pPr>
              <a:lnSpc>
                <a:spcPts val="2200"/>
              </a:lnSpc>
              <a:spcAft>
                <a:spcPts val="600"/>
              </a:spcAft>
            </a:pPr>
            <a:r>
              <a:rPr sz="2000" b="0">
                <a:solidFill>
                  <a:srgbClr val="333333"/>
                </a:solidFill>
                <a:latin typeface="Consolas"/>
              </a:rPr>
              <a:t>ls -a</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-la — long listing that includes hidden names</a:t>
            </a:r>
          </a:p>
          <a:p>
            <a:pPr>
              <a:lnSpc>
                <a:spcPts val="2200"/>
              </a:lnSpc>
              <a:spcAft>
                <a:spcPts val="600"/>
              </a:spcAft>
            </a:pPr>
            <a:r>
              <a:rPr sz="2000" b="0">
                <a:solidFill>
                  <a:srgbClr val="333333"/>
                </a:solidFill>
                <a:latin typeface="Consolas"/>
              </a:rPr>
              <a:t>ls -la</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cat .hidden_file — read a hidden file (safe inspect)</a:t>
            </a:r>
          </a:p>
          <a:p>
            <a:pPr>
              <a:lnSpc>
                <a:spcPts val="2200"/>
              </a:lnSpc>
              <a:spcAft>
                <a:spcPts val="600"/>
              </a:spcAft>
            </a:pPr>
            <a:r>
              <a:rPr sz="2000" b="0">
                <a:solidFill>
                  <a:srgbClr val="333333"/>
                </a:solidFill>
                <a:latin typeface="Consolas"/>
              </a:rPr>
              <a:t>cat .hidden_file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cat .sample_rc — read an example config-style dotfile</a:t>
            </a:r>
          </a:p>
          <a:p>
            <a:pPr>
              <a:lnSpc>
                <a:spcPts val="2200"/>
              </a:lnSpc>
              <a:spcAft>
                <a:spcPts val="600"/>
              </a:spcAft>
            </a:pPr>
            <a:r>
              <a:rPr sz="2000" b="0">
                <a:solidFill>
                  <a:srgbClr val="333333"/>
                </a:solidFill>
                <a:latin typeface="Consolas"/>
              </a:rPr>
              <a:t>cat .sample_rc</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-a ~ | head -12 — peek at real home dotfiles (read-only)</a:t>
            </a:r>
          </a:p>
          <a:p>
            <a:pPr>
              <a:lnSpc>
                <a:spcPts val="2200"/>
              </a:lnSpc>
              <a:spcAft>
                <a:spcPts val="600"/>
              </a:spcAft>
            </a:pPr>
            <a:r>
              <a:rPr sz="2000" b="0">
                <a:solidFill>
                  <a:srgbClr val="333333"/>
                </a:solidFill>
                <a:latin typeface="Consolas"/>
              </a:rPr>
              <a:t>ls -a ~ | head -12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dotfiles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edit bashrc or profile until you understand the change, a typo can break new shells</a:t>
            </a:r>
          </a:p>
          <a:p>
            <a:pPr lvl="0" marL="457200" indent="-228600">
              <a:buFont typeface="Calibri"/>
              <a:spcAft>
                <a:spcPts val="1000"/>
              </a:spcAft>
              <a:buSzPct val="100000"/>
              <a:buChar char="•"/>
              <a:lnSpc>
                <a:spcPts val="2200"/>
              </a:lnSpc>
            </a:pPr>
            <a:r>
              <a:rPr sz="2000" b="0">
                <a:solidFill>
                  <a:srgbClr val="333333"/>
                </a:solidFill>
                <a:latin typeface="Calibri"/>
              </a:rPr>
              <a:t>Prefer read tools first: cat or less</a:t>
            </a:r>
          </a:p>
          <a:p>
            <a:pPr lvl="0" marL="457200" indent="-228600">
              <a:buFont typeface="Calibri"/>
              <a:spcAft>
                <a:spcPts val="1000"/>
              </a:spcAft>
              <a:buSzPct val="100000"/>
              <a:buChar char="•"/>
              <a:lnSpc>
                <a:spcPts val="2200"/>
              </a:lnSpc>
            </a:pPr>
            <a:r>
              <a:rPr sz="2000" b="0">
                <a:solidFill>
                  <a:srgbClr val="333333"/>
                </a:solidFill>
                <a:latin typeface="Calibri"/>
              </a:rPr>
              <a:t>Remember that star globs often skip leading-dot names unless you ask for them</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dotfiles lab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 practice plain list versus list-all</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process list and signals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dotfiles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
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work in digital design or verification, you will live in a shell. You will open projects, run simulators, skim logs, and move files—all from a terminal. This short clip welcomes you to learn Unix, and shows how the course is meant to be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Chip and verification work sits on real files and real tools. A graphical editor helps you write RTL, but Make, Git, Icarus, Verilator, and log triage all assume you can navigate a tree, run a command, and read what came back. Getting comfortable here pays off in every later course.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lab module offers two ways to practice. The real Unix track uses your own terminal—Linux, macOS, or WSL on Windows—so paths, permissions, and scripts feel real. The browser lab track uses interactive tools on the learning platform, so you can build intuition without installing anything. You may do either track, or both. The usual rhythm is browser first for the idea, then the real shell for muscle memory.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terminal. On Windows, prefer WSL. From the learn Unix course folder, run the scaffold script once. It creates a small practice tree under your home directory where checklist exercises can live safely. You will come back to that tree throughout the course.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monorepo, serve the platform folder with a simple local web server, then open the tools index in your browser. If you prefer, use the published tools site instead. Either way, you only need to confirm you can reach the labs—the next module will send you into a specific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module, read the README for the outcome, pick a track—or both—then work the checklist. When you finish this intro checklist, continue to the first lab module: the virtual filesystem terminal.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Welcome to Unix for design</a:t>
            </a:r>
          </a:p>
          <a:p>
            <a:pPr algn="ctr">
              <a:lnSpc>
                <a:spcPts val="2200"/>
              </a:lnSpc>
              <a:spcBef>
                <a:spcPts val="1400"/>
              </a:spcBef>
            </a:pPr>
            <a:r>
              <a:rPr sz="2600" b="0">
                <a:solidFill>
                  <a:srgbClr val="333333"/>
                </a:solidFill>
                <a:latin typeface="Calibri"/>
              </a:rPr>
              <a:t>If you work in digital design or verification, you will live in a shell</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learn_unix — intro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the shell matters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Chip and verification work sits on real files and real tools</a:t>
            </a:r>
          </a:p>
          <a:p>
            <a:pPr lvl="0" marL="457200" indent="-228600">
              <a:buFont typeface="Calibri"/>
              <a:spcAft>
                <a:spcPts val="1000"/>
              </a:spcAft>
              <a:buSzPct val="100000"/>
              <a:buChar char="•"/>
              <a:lnSpc>
                <a:spcPts val="2200"/>
              </a:lnSpc>
            </a:pPr>
            <a:r>
              <a:rPr sz="2000" b="0">
                <a:solidFill>
                  <a:srgbClr val="333333"/>
                </a:solidFill>
                <a:latin typeface="Calibri"/>
              </a:rPr>
              <a:t>A graphical editor helps you write RTL, but Make, Git, Icarus, Verilator</a:t>
            </a:r>
          </a:p>
          <a:p>
            <a:pPr lvl="0" marL="457200" indent="-228600">
              <a:buFont typeface="Calibri"/>
              <a:spcAft>
                <a:spcPts val="1000"/>
              </a:spcAft>
              <a:buSzPct val="100000"/>
              <a:buChar char="•"/>
              <a:lnSpc>
                <a:spcPts val="2200"/>
              </a:lnSpc>
            </a:pPr>
            <a:r>
              <a:rPr sz="2000" b="0">
                <a:solidFill>
                  <a:srgbClr val="333333"/>
                </a:solidFill>
                <a:latin typeface="Calibri"/>
              </a:rPr>
              <a:t>Getting comfortable here pays off in every later course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learn_unix — intro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Two tracks, one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Every lab module offers two ways to practice</a:t>
            </a:r>
          </a:p>
          <a:p>
            <a:pPr lvl="0" marL="457200" indent="-228600">
              <a:buFont typeface="Calibri"/>
              <a:spcAft>
                <a:spcPts val="1000"/>
              </a:spcAft>
              <a:buSzPct val="100000"/>
              <a:buChar char="•"/>
              <a:lnSpc>
                <a:spcPts val="2200"/>
              </a:lnSpc>
            </a:pPr>
            <a:r>
              <a:rPr sz="2000" b="0">
                <a:solidFill>
                  <a:srgbClr val="333333"/>
                </a:solidFill>
                <a:latin typeface="Calibri"/>
              </a:rPr>
              <a:t>Scripts feel real</a:t>
            </a:r>
          </a:p>
          <a:p>
            <a:pPr lvl="0" marL="457200" indent="-228600">
              <a:buFont typeface="Calibri"/>
              <a:spcAft>
                <a:spcPts val="1000"/>
              </a:spcAft>
              <a:buSzPct val="100000"/>
              <a:buChar char="•"/>
              <a:lnSpc>
                <a:spcPts val="2200"/>
              </a:lnSpc>
            </a:pPr>
            <a:r>
              <a:rPr sz="2000" b="0">
                <a:solidFill>
                  <a:srgbClr val="333333"/>
                </a:solidFill>
                <a:latin typeface="Calibri"/>
              </a:rPr>
              <a:t>The browser lab track uses interactive tools on the learning platform</a:t>
            </a:r>
          </a:p>
          <a:p>
            <a:pPr lvl="0" marL="457200" indent="-228600">
              <a:buFont typeface="Calibri"/>
              <a:spcAft>
                <a:spcPts val="1000"/>
              </a:spcAft>
              <a:buSzPct val="100000"/>
              <a:buChar char="•"/>
              <a:lnSpc>
                <a:spcPts val="2200"/>
              </a:lnSpc>
            </a:pPr>
            <a:r>
              <a:rPr sz="2000" b="0">
                <a:solidFill>
                  <a:srgbClr val="333333"/>
                </a:solidFill>
                <a:latin typeface="Calibri"/>
              </a:rPr>
              <a:t>You may do either track, or both</a:t>
            </a:r>
          </a:p>
          <a:p>
            <a:pPr lvl="0" marL="457200" indent="-228600">
              <a:buFont typeface="Calibri"/>
              <a:spcAft>
                <a:spcPts val="1000"/>
              </a:spcAft>
              <a:buSzPct val="100000"/>
              <a:buChar char="•"/>
              <a:lnSpc>
                <a:spcPts val="2200"/>
              </a:lnSpc>
            </a:pPr>
            <a:r>
              <a:rPr sz="2000" b="0">
                <a:solidFill>
                  <a:srgbClr val="333333"/>
                </a:solidFill>
                <a:latin typeface="Calibri"/>
              </a:rPr>
              <a:t>The usual rhythm is browser first for the idea, then the real shell for muscle memory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learn_unix — intro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Set up the real Unix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Open a terminal</a:t>
            </a:r>
          </a:p>
          <a:p>
            <a:pPr lvl="0" marL="457200" indent="-228600">
              <a:buFont typeface="Calibri"/>
              <a:spcAft>
                <a:spcPts val="1000"/>
              </a:spcAft>
              <a:buSzPct val="100000"/>
              <a:buChar char="•"/>
              <a:lnSpc>
                <a:spcPts val="2200"/>
              </a:lnSpc>
            </a:pPr>
            <a:r>
              <a:rPr sz="2000" b="0">
                <a:solidFill>
                  <a:srgbClr val="333333"/>
                </a:solidFill>
                <a:latin typeface="Calibri"/>
              </a:rPr>
              <a:t>On Windows, prefer WSL</a:t>
            </a:r>
          </a:p>
          <a:p>
            <a:pPr lvl="0" marL="457200" indent="-228600">
              <a:buFont typeface="Calibri"/>
              <a:spcAft>
                <a:spcPts val="1000"/>
              </a:spcAft>
              <a:buSzPct val="100000"/>
              <a:buChar char="•"/>
              <a:lnSpc>
                <a:spcPts val="2200"/>
              </a:lnSpc>
            </a:pPr>
            <a:r>
              <a:rPr sz="2000" b="0">
                <a:solidFill>
                  <a:srgbClr val="333333"/>
                </a:solidFill>
                <a:latin typeface="Calibri"/>
              </a:rPr>
              <a:t>From the learn Unix course folder, run the scaffold script once</a:t>
            </a:r>
          </a:p>
          <a:p>
            <a:pPr lvl="0" marL="457200" indent="-228600">
              <a:buFont typeface="Calibri"/>
              <a:spcAft>
                <a:spcPts val="1000"/>
              </a:spcAft>
              <a:buSzPct val="100000"/>
              <a:buChar char="•"/>
              <a:lnSpc>
                <a:spcPts val="2200"/>
              </a:lnSpc>
            </a:pPr>
            <a:r>
              <a:rPr sz="2000" b="0">
                <a:solidFill>
                  <a:srgbClr val="333333"/>
                </a:solidFill>
                <a:latin typeface="Calibri"/>
              </a:rPr>
              <a:t>It creates a small practice tree under your home directory where checklist exercises can</a:t>
            </a:r>
          </a:p>
          <a:p>
            <a:pPr lvl="0" marL="457200" indent="-228600">
              <a:buFont typeface="Calibri"/>
              <a:spcAft>
                <a:spcPts val="1000"/>
              </a:spcAft>
              <a:buSzPct val="100000"/>
              <a:buChar char="•"/>
              <a:lnSpc>
                <a:spcPts val="2200"/>
              </a:lnSpc>
            </a:pPr>
            <a:r>
              <a:rPr sz="2000" b="0">
                <a:solidFill>
                  <a:srgbClr val="333333"/>
                </a:solidFill>
                <a:latin typeface="Calibri"/>
              </a:rPr>
              <a:t>You will come back to that tree throughout the course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learn_unix — intro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Set up the 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From the monorepo</a:t>
            </a:r>
          </a:p>
          <a:p>
            <a:pPr lvl="0" marL="457200" indent="-228600">
              <a:buFont typeface="Calibri"/>
              <a:spcAft>
                <a:spcPts val="1000"/>
              </a:spcAft>
              <a:buSzPct val="100000"/>
              <a:buChar char="•"/>
              <a:lnSpc>
                <a:spcPts val="2200"/>
              </a:lnSpc>
            </a:pPr>
            <a:r>
              <a:rPr sz="2000" b="0">
                <a:solidFill>
                  <a:srgbClr val="333333"/>
                </a:solidFill>
                <a:latin typeface="Calibri"/>
              </a:rPr>
              <a:t>If you prefer, use the published tools site instead</a:t>
            </a:r>
          </a:p>
          <a:p>
            <a:pPr lvl="0" marL="457200" indent="-228600">
              <a:buFont typeface="Calibri"/>
              <a:spcAft>
                <a:spcPts val="1000"/>
              </a:spcAft>
              <a:buSzPct val="100000"/>
              <a:buChar char="•"/>
              <a:lnSpc>
                <a:spcPts val="2200"/>
              </a:lnSpc>
            </a:pPr>
            <a:r>
              <a:rPr sz="2000" b="0">
                <a:solidFill>
                  <a:srgbClr val="333333"/>
                </a:solidFill>
                <a:latin typeface="Calibri"/>
              </a:rPr>
              <a:t>Either way, you only need to confirm you can reach the labs, the next module will send you</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learn_unix — intro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How to move through modules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For each module</a:t>
            </a:r>
          </a:p>
          <a:p>
            <a:pPr lvl="0" marL="457200" indent="-228600">
              <a:buFont typeface="Calibri"/>
              <a:spcAft>
                <a:spcPts val="1000"/>
              </a:spcAft>
              <a:buSzPct val="100000"/>
              <a:buChar char="•"/>
              <a:lnSpc>
                <a:spcPts val="2200"/>
              </a:lnSpc>
            </a:pPr>
            <a:r>
              <a:rPr sz="2000" b="0">
                <a:solidFill>
                  <a:srgbClr val="333333"/>
                </a:solidFill>
                <a:latin typeface="Calibri"/>
              </a:rPr>
              <a:t>When you finish this intro checklist, continue to the first lab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learn_unix — intro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
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builds and simulations should not lock your terminal forever. Job control lets you start work in the background, list what this shell is running, suspend with Control-Z, and bring a job back with foreground or background. This module connects ampersand, jobs, fg, and bg to habits you will use on real projects.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ampersand at the end of a command starts it in the background—you get the prompt back. jobs lists this shell’s jobs. Control-Z suspends the foreground job; it is stopped, not killed. bg resumes a stopped job in the background; fg brings a job to the foreground so you can interact or interrupt with Control-C. Redirect output to a log, then tail the log while the job runs.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Watch the jobs table and the foreground banner. Try Control-Z on a running foreground job, then bg or fg. Start something with ampersand and list jobs. Orient yourself with the state diagram,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background example. Make the slow script executable. Start it in the background with output redirected to a log. List jobs so you see the job number and PID. Wait a moment, then show the last lines of the log. Stop the background job when you are done practicing. You will reuse this pattern for long sims and builds.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Control-Z stops; it does not terminate—use Control-C or kill when you want the process gone. jobs only lists jobs for this shell, not every process on the machine. Closing the terminal can hang or kill background jobs unless you plan for that. And remember: the browser lab shows the idea; real sims still need background jobs and logs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ampersand, jobs, and tailing a log. When you are ready, take the short quiz, then continue to pipes, redirection, and xargs.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Job control</a:t>
            </a:r>
          </a:p>
          <a:p>
            <a:pPr algn="ctr">
              <a:lnSpc>
                <a:spcPts val="2200"/>
              </a:lnSpc>
              <a:spcBef>
                <a:spcPts val="1400"/>
              </a:spcBef>
            </a:pPr>
            <a:r>
              <a:rPr sz="2600" b="0">
                <a:solidFill>
                  <a:srgbClr val="333333"/>
                </a:solidFill>
                <a:latin typeface="Calibri"/>
              </a:rPr>
              <a:t>Long builds and simulations should not lock your terminal forever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Background, stop, and resume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 ampersand at the end of a command starts it in the background, you get the prompt back</a:t>
            </a:r>
          </a:p>
          <a:p>
            <a:pPr lvl="0" marL="457200" indent="-228600">
              <a:buFont typeface="Calibri"/>
              <a:spcAft>
                <a:spcPts val="1000"/>
              </a:spcAft>
              <a:buSzPct val="100000"/>
              <a:buChar char="•"/>
              <a:lnSpc>
                <a:spcPts val="2200"/>
              </a:lnSpc>
            </a:pPr>
            <a:r>
              <a:rPr sz="2000" b="0">
                <a:solidFill>
                  <a:srgbClr val="333333"/>
                </a:solidFill>
                <a:latin typeface="Calibri"/>
              </a:rPr>
              <a:t>Jobs lists this shell’s jobs</a:t>
            </a:r>
          </a:p>
          <a:p>
            <a:pPr lvl="0" marL="457200" indent="-228600">
              <a:buFont typeface="Calibri"/>
              <a:spcAft>
                <a:spcPts val="1000"/>
              </a:spcAft>
              <a:buSzPct val="100000"/>
              <a:buChar char="•"/>
              <a:lnSpc>
                <a:spcPts val="2200"/>
              </a:lnSpc>
            </a:pPr>
            <a:r>
              <a:rPr sz="2000" b="0">
                <a:solidFill>
                  <a:srgbClr val="333333"/>
                </a:solidFill>
                <a:latin typeface="Calibri"/>
              </a:rPr>
              <a:t>Control-Z suspends the foreground job; it is stopped, not killed</a:t>
            </a:r>
          </a:p>
          <a:p>
            <a:pPr lvl="0" marL="457200" indent="-228600">
              <a:buFont typeface="Calibri"/>
              <a:spcAft>
                <a:spcPts val="1000"/>
              </a:spcAft>
              <a:buSzPct val="100000"/>
              <a:buChar char="•"/>
              <a:lnSpc>
                <a:spcPts val="2200"/>
              </a:lnSpc>
            </a:pPr>
            <a:r>
              <a:rPr sz="2000" b="0">
                <a:solidFill>
                  <a:srgbClr val="333333"/>
                </a:solidFill>
                <a:latin typeface="Calibri"/>
              </a:rPr>
              <a:t>Bg resumes a stopped job in the background</a:t>
            </a:r>
          </a:p>
          <a:p>
            <a:pPr lvl="0" marL="457200" indent="-228600">
              <a:buFont typeface="Calibri"/>
              <a:spcAft>
                <a:spcPts val="1000"/>
              </a:spcAft>
              <a:buSzPct val="100000"/>
              <a:buChar char="•"/>
              <a:lnSpc>
                <a:spcPts val="2200"/>
              </a:lnSpc>
            </a:pPr>
            <a:r>
              <a:rPr sz="2000" b="0">
                <a:solidFill>
                  <a:srgbClr val="333333"/>
                </a:solidFill>
                <a:latin typeface="Calibri"/>
              </a:rPr>
              <a:t>Redirect output to a log, then tail the log while the job runs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Job control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job control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chmod u+x slow_output.sh — make the demo script executable</a:t>
            </a:r>
          </a:p>
          <a:p>
            <a:pPr>
              <a:lnSpc>
                <a:spcPts val="2200"/>
              </a:lnSpc>
              <a:spcAft>
                <a:spcPts val="600"/>
              </a:spcAft>
            </a:pPr>
            <a:r>
              <a:rPr sz="2000" b="0">
                <a:solidFill>
                  <a:srgbClr val="333333"/>
                </a:solidFill>
                <a:latin typeface="Consolas"/>
              </a:rPr>
              <a:t>chmod u+x slow_output.sh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./slow_output.sh &gt; bg.log 2&gt;&amp;1 &amp; — run in background; stdout/stderr to</a:t>
            </a:r>
          </a:p>
          <a:p>
            <a:pPr>
              <a:lnSpc>
                <a:spcPts val="2200"/>
              </a:lnSpc>
              <a:spcAft>
                <a:spcPts val="600"/>
              </a:spcAft>
            </a:pPr>
            <a:r>
              <a:rPr sz="2000" b="0">
                <a:solidFill>
                  <a:srgbClr val="333333"/>
                </a:solidFill>
                <a:latin typeface="Consolas"/>
              </a:rPr>
              <a:t>a log</a:t>
            </a:r>
          </a:p>
          <a:p>
            <a:pPr>
              <a:lnSpc>
                <a:spcPts val="2200"/>
              </a:lnSpc>
              <a:spcAft>
                <a:spcPts val="600"/>
              </a:spcAft>
            </a:pPr>
            <a:r>
              <a:rPr sz="2000" b="0">
                <a:solidFill>
                  <a:srgbClr val="333333"/>
                </a:solidFill>
                <a:latin typeface="Consolas"/>
              </a:rPr>
              <a:t>./slow_output.sh &gt; bg.log 2&gt;&amp;1 &amp;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jobs — list this shell’s background jobs</a:t>
            </a:r>
          </a:p>
          <a:p>
            <a:pPr>
              <a:lnSpc>
                <a:spcPts val="2200"/>
              </a:lnSpc>
              <a:spcAft>
                <a:spcPts val="600"/>
              </a:spcAft>
            </a:pPr>
            <a:r>
              <a:rPr sz="2000" b="0">
                <a:solidFill>
                  <a:srgbClr val="333333"/>
                </a:solidFill>
                <a:latin typeface="Consolas"/>
              </a:rPr>
              <a:t>jobs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sleep 2 — give the script a moment to write lines</a:t>
            </a:r>
          </a:p>
          <a:p>
            <a:pPr>
              <a:lnSpc>
                <a:spcPts val="2200"/>
              </a:lnSpc>
              <a:spcAft>
                <a:spcPts val="600"/>
              </a:spcAft>
            </a:pPr>
            <a:r>
              <a:rPr sz="2000" b="0">
                <a:solidFill>
                  <a:srgbClr val="333333"/>
                </a:solidFill>
                <a:latin typeface="Consolas"/>
              </a:rPr>
              <a:t>sleep 2</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tail -5 bg.log — show the latest log lines while the job runs</a:t>
            </a:r>
          </a:p>
          <a:p>
            <a:pPr>
              <a:lnSpc>
                <a:spcPts val="2200"/>
              </a:lnSpc>
              <a:spcAft>
                <a:spcPts val="600"/>
              </a:spcAft>
            </a:pPr>
            <a:r>
              <a:rPr sz="2000" b="0">
                <a:solidFill>
                  <a:srgbClr val="333333"/>
                </a:solidFill>
                <a:latin typeface="Consolas"/>
              </a:rPr>
              <a:t>tail -5 bg.log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kill %1 — stop job 1 (or: kill $(jobs -p))</a:t>
            </a:r>
          </a:p>
          <a:p>
            <a:pPr>
              <a:lnSpc>
                <a:spcPts val="2200"/>
              </a:lnSpc>
              <a:spcAft>
                <a:spcPts val="600"/>
              </a:spcAft>
            </a:pPr>
            <a:r>
              <a:rPr sz="2000" b="0">
                <a:solidFill>
                  <a:srgbClr val="333333"/>
                </a:solidFill>
                <a:latin typeface="Consolas"/>
              </a:rPr>
              <a:t>kill %1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Control-Z stops</a:t>
            </a:r>
          </a:p>
          <a:p>
            <a:pPr lvl="0" marL="457200" indent="-228600">
              <a:buFont typeface="Calibri"/>
              <a:spcAft>
                <a:spcPts val="1000"/>
              </a:spcAft>
              <a:buSzPct val="100000"/>
              <a:buChar char="•"/>
              <a:lnSpc>
                <a:spcPts val="2200"/>
              </a:lnSpc>
            </a:pPr>
            <a:r>
              <a:rPr sz="2000" b="0">
                <a:solidFill>
                  <a:srgbClr val="333333"/>
                </a:solidFill>
                <a:latin typeface="Calibri"/>
              </a:rPr>
              <a:t>Jobs only lists jobs for this shell, not every process on the machine</a:t>
            </a:r>
          </a:p>
          <a:p>
            <a:pPr lvl="0" marL="457200" indent="-228600">
              <a:buFont typeface="Calibri"/>
              <a:spcAft>
                <a:spcPts val="1000"/>
              </a:spcAft>
              <a:buSzPct val="100000"/>
              <a:buChar char="•"/>
              <a:lnSpc>
                <a:spcPts val="2200"/>
              </a:lnSpc>
            </a:pPr>
            <a:r>
              <a:rPr sz="2000" b="0">
                <a:solidFill>
                  <a:srgbClr val="333333"/>
                </a:solidFill>
                <a:latin typeface="Calibri"/>
              </a:rPr>
              <a:t>Closing the terminal can hang or kill background jobs unless you plan for that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ampersand, jobs, and tailing a log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pipes, redirection, and xargs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job control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